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9" r:id="rId4"/>
  </p:sldMasterIdLst>
  <p:notesMasterIdLst>
    <p:notesMasterId r:id="rId6"/>
  </p:notesMasterIdLst>
  <p:sldIdLst>
    <p:sldId id="1055" r:id="rId5"/>
    <p:sldId id="281" r:id="rId7"/>
    <p:sldId id="1061" r:id="rId8"/>
    <p:sldId id="1054" r:id="rId9"/>
    <p:sldId id="1058" r:id="rId10"/>
    <p:sldId id="1059" r:id="rId11"/>
    <p:sldId id="1060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59" autoAdjust="0"/>
  </p:normalViewPr>
  <p:slideViewPr>
    <p:cSldViewPr snapToGrid="0" showGuides="1">
      <p:cViewPr>
        <p:scale>
          <a:sx n="100" d="100"/>
          <a:sy n="100" d="100"/>
        </p:scale>
        <p:origin x="-990" y="-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fld id="{A00174BB-53EE-45EA-84AF-842BFE25EA7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fld id="{A3616380-4D91-43BB-AB19-A369B4EA077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50C4EE6-7E3D-412F-8AFA-B4D678A9EE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 l="5285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-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5147687" y="-223903"/>
            <a:ext cx="18956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fld id="{44B5E3D8-B559-49FC-84E7-900B409E63B2}" type="slidenum">
              <a:rPr kumimoji="0" lang="id-ID" sz="9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antGarde Bk BT" panose="020B0402020202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</a:fld>
            <a:endParaRPr lang="bg-BG" sz="9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632D7-6FC5-4F1F-BD09-62CFF46557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B11E6-E9F9-4B83-8B53-4B698CD69B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2891881" y="2343755"/>
            <a:ext cx="6408238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66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数据挖掘</a:t>
            </a:r>
            <a:endParaRPr lang="zh-CN" altLang="en-US" sz="6600" b="1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056829" y="3793612"/>
            <a:ext cx="6078342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3913505"/>
            <a:ext cx="12192000" cy="3126105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第九章作业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marL="0" indent="0" algn="ctr">
              <a:buNone/>
            </a:pPr>
            <a:r>
              <a:rPr lang="zh-CN" altLang="en-US" sz="1800"/>
              <a:t>宋子旻   信管</a:t>
            </a:r>
            <a:r>
              <a:rPr lang="en-US" altLang="zh-CN" sz="1800"/>
              <a:t>2302   202321054046</a:t>
            </a:r>
            <a:endParaRPr lang="en-US" altLang="zh-CN" sz="18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43230" y="1444625"/>
            <a:ext cx="11083925" cy="4061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b="1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决策树</a:t>
            </a:r>
            <a:r>
              <a:rPr 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是监督学习算法，多用于分类问题，可适配离散、连续的输入与输出变量。它是树形逻辑结构，中间分支节点代表可选的判断选项，末端叶子节点代表最终输出的分类决策。直观上，它能通过多次切片划分，将混杂的不同类别样本逐步区分，完成归类任务。</a:t>
            </a:r>
            <a:br>
              <a:rPr 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</a:br>
            <a:r>
              <a:rPr 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决策树先对现有数据集做逐层拆分，递归搭建完整树模型。模型构建完成后，就可以用来预测全新未知样本的类别。除本次介绍的 ID3 外，还有 CART、IDS 等多种算法，都可以用来搭建决策树模型，实现分类功能。</a:t>
            </a:r>
            <a:endParaRPr lang="en-US" sz="24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4331335" y="297180"/>
            <a:ext cx="352933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决策树知识整理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53720" y="1098550"/>
            <a:ext cx="1108392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阿里巴巴普惠体"/>
              </a:rPr>
              <a:t>ID3 </a:t>
            </a:r>
            <a:r>
              <a:rPr lang="zh-CN" altLang="en-US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阿里巴巴普惠体"/>
              </a:rPr>
              <a:t>（</a:t>
            </a:r>
            <a:r>
              <a:rPr lang="en-US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阿里巴巴普惠体"/>
              </a:rPr>
              <a:t>迭代二分器 3</a:t>
            </a:r>
            <a:r>
              <a:rPr lang="zh-CN" altLang="en-US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阿里巴巴普惠体"/>
              </a:rPr>
              <a:t>）</a:t>
            </a:r>
            <a:r>
              <a:rPr lang="zh-CN" altLang="en-US" sz="2000" b="1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：</a:t>
            </a:r>
            <a:r>
              <a:rPr lang="en-US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用自上而下的贪心搜索逻辑搭建决策树，逐一测试节点可用属性，锁定最优分裂方案。算法以循环形式运转，先选出当前最优分裂属性，为属性不同取值创建子节点、排布训练样本；样本实现精准分类即停止流程，未达标则持续向下迭代划分。</a:t>
            </a:r>
            <a:endParaRPr 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endParaRPr 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阿里巴巴普惠体"/>
              </a:rPr>
              <a:t>熵：</a:t>
            </a:r>
            <a:r>
              <a:rPr lang="en-US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用于衡量数据集的随机混乱程度，概念与热力学熵相通，熵值越高，数据纯度越低、整体不确定性越强。依靠专属公式计算熵值，先算出数据集整体熵，再逐一遍历特征，求得特征分类后的熵与平均信息熵，最终推导得出该特征的信息增益。</a:t>
            </a:r>
            <a:endParaRPr 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endParaRPr 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阿里巴巴普惠体"/>
              </a:rPr>
              <a:t>信息增益</a:t>
            </a:r>
            <a:r>
              <a:rPr lang="zh-CN" altLang="en-US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阿里巴巴普惠体"/>
              </a:rPr>
              <a:t>：</a:t>
            </a:r>
            <a:r>
              <a:rPr lang="en-US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是挑选最优分裂属性的核心评判标准，信息增益最大的属性即为最优分裂选择。它代表按某一属性划分后，数据集整体混乱度的下降幅度，增益越大，分类区分效果越好。算法反复选取最高增益属性完成节点分裂、持续迭代，最终构建出完整精准的决策树。</a:t>
            </a:r>
            <a:endParaRPr 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4331335" y="297180"/>
            <a:ext cx="352933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决策树知识整理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2009344"/>
            <a:ext cx="12192000" cy="3374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5060" y="2099310"/>
            <a:ext cx="996188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 </a:t>
            </a:r>
            <a:endParaRPr lang="tr-TR" sz="2400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2898775" y="297180"/>
            <a:ext cx="63938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1</a:t>
            </a:r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.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 加入性别因素，看看acc的变化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45" y="1746250"/>
            <a:ext cx="7675880" cy="3899535"/>
          </a:xfrm>
          <a:prstGeom prst="rect">
            <a:avLst/>
          </a:prstGeom>
        </p:spPr>
      </p:pic>
      <p:sp>
        <p:nvSpPr>
          <p:cNvPr id="4" name="Rectangle 6"/>
          <p:cNvSpPr/>
          <p:nvPr/>
        </p:nvSpPr>
        <p:spPr>
          <a:xfrm>
            <a:off x="8009890" y="2009140"/>
            <a:ext cx="3876040" cy="332295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2">
                    <a:lumMod val="25000"/>
                  </a:schemeClr>
                </a:solidFill>
                <a:latin typeface="阿里巴巴普惠体 M" panose="00020600040101010101" charset="-122"/>
                <a:ea typeface="阿里巴巴普惠体 M" panose="00020600040101010101" charset="-122"/>
                <a:cs typeface="阿里巴巴普惠体 M" panose="00020600040101010101" charset="-122"/>
                <a:sym typeface="阿里巴巴普惠体"/>
              </a:rPr>
              <a:t>在年龄、薪资的基础上新增性别特征，重新训练模型并对比准确率。</a:t>
            </a:r>
            <a:endParaRPr lang="zh-CN" altLang="en-US" sz="2000">
              <a:solidFill>
                <a:schemeClr val="bg2">
                  <a:lumMod val="25000"/>
                </a:schemeClr>
              </a:solidFill>
              <a:latin typeface="阿里巴巴普惠体 M" panose="00020600040101010101" charset="-122"/>
              <a:ea typeface="阿里巴巴普惠体 M" panose="00020600040101010101" charset="-122"/>
              <a:cs typeface="阿里巴巴普惠体 M" panose="00020600040101010101" charset="-122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2">
                    <a:lumMod val="25000"/>
                  </a:schemeClr>
                </a:solidFill>
                <a:latin typeface="阿里巴巴普惠体 M" panose="00020600040101010101" charset="-122"/>
                <a:ea typeface="阿里巴巴普惠体 M" panose="00020600040101010101" charset="-122"/>
                <a:cs typeface="阿里巴巴普惠体 M" panose="00020600040101010101" charset="-122"/>
                <a:sym typeface="阿里巴巴普惠体"/>
              </a:rPr>
              <a:t>结果显示准确率几乎无明显变化</a:t>
            </a:r>
            <a:r>
              <a:rPr lang="en-US" altLang="zh-CN" sz="2000">
                <a:solidFill>
                  <a:schemeClr val="bg2">
                    <a:lumMod val="25000"/>
                  </a:schemeClr>
                </a:solidFill>
                <a:latin typeface="阿里巴巴普惠体 M" panose="00020600040101010101" charset="-122"/>
                <a:ea typeface="阿里巴巴普惠体 M" panose="00020600040101010101" charset="-122"/>
                <a:cs typeface="阿里巴巴普惠体 M" panose="00020600040101010101" charset="-122"/>
                <a:sym typeface="阿里巴巴普惠体"/>
              </a:rPr>
              <a:t>(0.900-&gt;0.912)</a:t>
            </a:r>
            <a:r>
              <a:rPr lang="zh-CN" altLang="en-US" sz="2000">
                <a:solidFill>
                  <a:schemeClr val="bg2">
                    <a:lumMod val="25000"/>
                  </a:schemeClr>
                </a:solidFill>
                <a:latin typeface="阿里巴巴普惠体 M" panose="00020600040101010101" charset="-122"/>
                <a:ea typeface="阿里巴巴普惠体 M" panose="00020600040101010101" charset="-122"/>
                <a:cs typeface="阿里巴巴普惠体 M" panose="00020600040101010101" charset="-122"/>
                <a:sym typeface="阿里巴巴普惠体"/>
              </a:rPr>
              <a:t>，说明性别对用户购买行为的预测价值很低，年龄、收入才是核心影响变量。</a:t>
            </a:r>
            <a:endParaRPr lang="zh-CN" altLang="en-US" sz="2000">
              <a:solidFill>
                <a:schemeClr val="bg2">
                  <a:lumMod val="25000"/>
                </a:schemeClr>
              </a:solidFill>
              <a:latin typeface="阿里巴巴普惠体 M" panose="00020600040101010101" charset="-122"/>
              <a:ea typeface="阿里巴巴普惠体 M" panose="00020600040101010101" charset="-122"/>
              <a:cs typeface="阿里巴巴普惠体 M" panose="00020600040101010101" charset="-122"/>
              <a:sym typeface="阿里巴巴普惠体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2001089"/>
            <a:ext cx="12192000" cy="3374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5060" y="2099310"/>
            <a:ext cx="996188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 </a:t>
            </a:r>
            <a:endParaRPr lang="tr-TR" sz="2400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1482725" y="320040"/>
            <a:ext cx="922718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2 </a:t>
            </a:r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.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如何不进行特征缩放，预测的准确性有什么变化？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50085"/>
          <a:stretch>
            <a:fillRect/>
          </a:stretch>
        </p:blipFill>
        <p:spPr>
          <a:xfrm>
            <a:off x="6899910" y="2479675"/>
            <a:ext cx="4868545" cy="25450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65" y="2437765"/>
            <a:ext cx="4640580" cy="2628900"/>
          </a:xfrm>
          <a:prstGeom prst="rect">
            <a:avLst/>
          </a:prstGeom>
        </p:spPr>
      </p:pic>
      <p:sp>
        <p:nvSpPr>
          <p:cNvPr id="4" name="Rectangle 6"/>
          <p:cNvSpPr/>
          <p:nvPr/>
        </p:nvSpPr>
        <p:spPr>
          <a:xfrm>
            <a:off x="1671320" y="1577975"/>
            <a:ext cx="2769870" cy="6451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bg2">
                    <a:lumMod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阿里巴巴普惠体"/>
              </a:rPr>
              <a:t>进行特征缩放</a:t>
            </a:r>
            <a:endParaRPr lang="zh-CN" altLang="en-US" sz="2400" b="1">
              <a:solidFill>
                <a:schemeClr val="bg2">
                  <a:lumMod val="2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  <a:sym typeface="阿里巴巴普惠体"/>
            </a:endParaRPr>
          </a:p>
        </p:txBody>
      </p:sp>
      <p:sp>
        <p:nvSpPr>
          <p:cNvPr id="5" name="Rectangle 6"/>
          <p:cNvSpPr/>
          <p:nvPr/>
        </p:nvSpPr>
        <p:spPr>
          <a:xfrm>
            <a:off x="7949565" y="1577975"/>
            <a:ext cx="2769870" cy="6451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bg2">
                    <a:lumMod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阿里巴巴普惠体"/>
              </a:rPr>
              <a:t>不进行特征缩放</a:t>
            </a:r>
            <a:endParaRPr lang="zh-CN" altLang="en-US" sz="2400" b="1">
              <a:solidFill>
                <a:schemeClr val="bg2">
                  <a:lumMod val="2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  <a:sym typeface="阿里巴巴普惠体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1226820" y="5375275"/>
            <a:ext cx="9738995" cy="10147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bg2">
                    <a:lumMod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阿里巴巴普惠体"/>
              </a:rPr>
              <a:t>验证特征标准化缩放对决策树精度的影响。实验证明，缩放前后模型准确率基本一致，因为决策树仅依据数值相对大小做分裂判断，不受特征量纲影响，天生无需特征缩放。</a:t>
            </a:r>
            <a:endParaRPr lang="zh-CN" altLang="en-US" sz="2000" b="1">
              <a:solidFill>
                <a:schemeClr val="bg2">
                  <a:lumMod val="2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  <a:sym typeface="阿里巴巴普惠体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763270"/>
            <a:ext cx="12192000" cy="5991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5060" y="2099310"/>
            <a:ext cx="996188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tr-TR" sz="2400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1</a:t>
            </a:r>
            <a:endParaRPr lang="en-US" altLang="tr-TR" sz="2400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968375" y="280670"/>
            <a:ext cx="102546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3 </a:t>
            </a:r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.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比较KNN、Logistic、决策树在该数据集上的表现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" y="763905"/>
            <a:ext cx="3918585" cy="30232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465" y="763905"/>
            <a:ext cx="3918585" cy="30232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" y="3787140"/>
            <a:ext cx="3911600" cy="30238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465" y="3787140"/>
            <a:ext cx="3917950" cy="302831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7977505" y="991235"/>
            <a:ext cx="4102735" cy="51695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bg2">
                    <a:lumMod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阿里巴巴普惠体"/>
              </a:rPr>
              <a:t>四个模型测试集准确率对比</a:t>
            </a:r>
            <a:endParaRPr lang="zh-CN" altLang="en-US" sz="2000" b="1">
              <a:solidFill>
                <a:schemeClr val="bg2">
                  <a:lumMod val="2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bg2">
                    <a:lumMod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阿里巴巴普惠体"/>
              </a:rPr>
              <a:t>逻辑回归准确率：0.925</a:t>
            </a:r>
            <a:endParaRPr lang="zh-CN" altLang="en-US" sz="2000" b="1">
              <a:solidFill>
                <a:schemeClr val="bg2">
                  <a:lumMod val="2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bg2">
                    <a:lumMod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阿里巴巴普惠体"/>
              </a:rPr>
              <a:t>KNN</a:t>
            </a:r>
            <a:r>
              <a:rPr lang="en-US" altLang="zh-CN" sz="2000" b="1">
                <a:solidFill>
                  <a:schemeClr val="bg2">
                    <a:lumMod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阿里巴巴普惠体"/>
              </a:rPr>
              <a:t>(k=5)</a:t>
            </a:r>
            <a:r>
              <a:rPr lang="zh-CN" altLang="en-US" sz="2000" b="1">
                <a:solidFill>
                  <a:schemeClr val="bg2">
                    <a:lumMod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阿里巴巴普惠体"/>
              </a:rPr>
              <a:t>准确率：0.950</a:t>
            </a:r>
            <a:endParaRPr lang="zh-CN" altLang="en-US" sz="2000" b="1">
              <a:solidFill>
                <a:schemeClr val="bg2">
                  <a:lumMod val="2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bg2">
                    <a:lumMod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阿里巴巴普惠体"/>
              </a:rPr>
              <a:t>决策树准确率：0.900</a:t>
            </a:r>
            <a:endParaRPr lang="zh-CN" altLang="en-US" sz="2000" b="1">
              <a:solidFill>
                <a:schemeClr val="bg2">
                  <a:lumMod val="2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bg2">
                    <a:lumMod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阿里巴巴普惠体"/>
              </a:rPr>
              <a:t>随机森林准确率：0.912</a:t>
            </a:r>
            <a:endParaRPr lang="zh-CN" altLang="en-US" sz="2000" b="1">
              <a:solidFill>
                <a:schemeClr val="bg2">
                  <a:lumMod val="2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endParaRPr lang="zh-CN" altLang="en-US" sz="2000" b="1">
              <a:solidFill>
                <a:schemeClr val="bg2">
                  <a:lumMod val="2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bg2">
                    <a:lumMod val="2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阿里巴巴普惠体"/>
              </a:rPr>
              <a:t>本次测试集上，KNN 模型表现最优，准确率最高；逻辑回归效果稳健，优于随机森林与决策树；随机森林凭借集成学习，性能小幅领先单棵决策树，决策树准确率最低。</a:t>
            </a:r>
            <a:endParaRPr lang="zh-CN" altLang="en-US" sz="2000" b="1">
              <a:solidFill>
                <a:schemeClr val="bg2">
                  <a:lumMod val="2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  <a:sym typeface="阿里巴巴普惠体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2009344"/>
            <a:ext cx="12192000" cy="3374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5060" y="2099310"/>
            <a:ext cx="996188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sz="2400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 </a:t>
            </a:r>
            <a:endParaRPr lang="tr-TR" sz="2400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2898775" y="297180"/>
            <a:ext cx="63938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4</a:t>
            </a:r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.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 输出决策树看看</a:t>
            </a:r>
            <a:endParaRPr lang="en-US" altLang="zh-CN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88035"/>
            <a:ext cx="5664200" cy="3738245"/>
          </a:xfrm>
          <a:prstGeom prst="rect">
            <a:avLst/>
          </a:prstGeom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" y="3042285"/>
            <a:ext cx="5601970" cy="3051810"/>
          </a:xfrm>
          <a:prstGeom prst="rect">
            <a:avLst/>
          </a:prstGeom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0" y="957580"/>
            <a:ext cx="6407785" cy="49428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KSO_WPP_MARK_KEY" val="0e5f9e42-42cc-460d-9ddc-81bc94931e52"/>
</p:tagLst>
</file>

<file path=ppt/theme/theme1.xml><?xml version="1.0" encoding="utf-8"?>
<a:theme xmlns:a="http://schemas.openxmlformats.org/drawingml/2006/main" name="第一PPT，www.1ppt.com">
  <a:themeElements>
    <a:clrScheme name="灰度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acei4vif">
      <a:majorFont>
        <a:latin typeface="AvantGarde Bk BT"/>
        <a:ea typeface="YouYuan"/>
        <a:cs typeface="Arial"/>
      </a:majorFont>
      <a:minorFont>
        <a:latin typeface="AvantGarde Bk BT"/>
        <a:ea typeface="YouYua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    ">
  <a:themeElements>
    <a:clrScheme name="灰度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acei4vif">
      <a:majorFont>
        <a:latin typeface="AvantGarde Bk BT"/>
        <a:ea typeface="YouYuan"/>
        <a:cs typeface="Arial"/>
      </a:majorFont>
      <a:minorFont>
        <a:latin typeface="AvantGarde Bk BT"/>
        <a:ea typeface="YouYua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1027</Words>
  <Application>WPS 演示</Application>
  <PresentationFormat>自定义</PresentationFormat>
  <Paragraphs>52</Paragraphs>
  <Slides>7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Wingdings</vt:lpstr>
      <vt:lpstr>Arial</vt:lpstr>
      <vt:lpstr>AvantGarde Bk BT</vt:lpstr>
      <vt:lpstr>Open Sans Condensed Light</vt:lpstr>
      <vt:lpstr>字魂58号-创中黑</vt:lpstr>
      <vt:lpstr>黑体</vt:lpstr>
      <vt:lpstr>阿里巴巴普惠体</vt:lpstr>
      <vt:lpstr>阿里巴巴普惠体 M</vt:lpstr>
      <vt:lpstr>字魂58号-创中黑</vt:lpstr>
      <vt:lpstr>Yu Gothic UI Semilight</vt:lpstr>
      <vt:lpstr>幼圆</vt:lpstr>
      <vt:lpstr>Arial Unicode MS</vt:lpstr>
      <vt:lpstr>Yu Gothic UI Light</vt:lpstr>
      <vt:lpstr>Calibri</vt:lpstr>
      <vt:lpstr>Microsoft JhengHei</vt:lpstr>
      <vt:lpstr>MingLiU_HKSCS-ExtB</vt:lpstr>
      <vt:lpstr>Noto Sans SC</vt:lpstr>
      <vt:lpstr>隶书</vt:lpstr>
      <vt:lpstr>阿里巴巴普惠体 R</vt:lpstr>
      <vt:lpstr>等线</vt:lpstr>
      <vt:lpstr>第一PPT，www.1ppt.com</vt:lpstr>
      <vt:lpstr>第一PPT，www.1ppt.com     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极简商务</dc:title>
  <dc:creator>第一PPT</dc:creator>
  <cp:keywords>www.1ppt.com</cp:keywords>
  <dc:description>www.1ppt.com</dc:description>
  <cp:lastModifiedBy>Lucky-S</cp:lastModifiedBy>
  <cp:revision>22</cp:revision>
  <dcterms:created xsi:type="dcterms:W3CDTF">2019-03-26T04:26:00Z</dcterms:created>
  <dcterms:modified xsi:type="dcterms:W3CDTF">2026-04-26T12:13:03Z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D653B2D4BEF9465681F3BC65DFD2F0DF_11</vt:lpwstr>
  </property>
  <property fmtid="{D5CDD505-2E9C-101B-9397-08002B2CF9AE}" pid="3" name="KSOProductBuildVer">
    <vt:lpwstr>2052-11.1.0.10009</vt:lpwstr>
  </property>
  <property fmtid="{D5CDD505-2E9C-101B-9397-08002B2CF9AE}" pid="4" name="KSOTemplateUUID">
    <vt:lpwstr>v1.0_mb_Y0R1UnCSmrbzT+SbqrpIkA==</vt:lpwstr>
  </property>
</Properties>
</file>