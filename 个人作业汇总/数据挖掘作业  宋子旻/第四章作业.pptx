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9" r:id="rId4"/>
  </p:sldMasterIdLst>
  <p:notesMasterIdLst>
    <p:notesMasterId r:id="rId6"/>
  </p:notesMasterIdLst>
  <p:sldIdLst>
    <p:sldId id="1055" r:id="rId5"/>
    <p:sldId id="281" r:id="rId7"/>
    <p:sldId id="1058" r:id="rId8"/>
    <p:sldId id="1060" r:id="rId9"/>
    <p:sldId id="1059" r:id="rId10"/>
    <p:sldId id="1061" r:id="rId11"/>
    <p:sldId id="1063" r:id="rId12"/>
    <p:sldId id="1062" r:id="rId13"/>
    <p:sldId id="1064" r:id="rId14"/>
    <p:sldId id="1054" r:id="rId15"/>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59" autoAdjust="0"/>
  </p:normalViewPr>
  <p:slideViewPr>
    <p:cSldViewPr snapToGrid="0" showGuides="1">
      <p:cViewPr>
        <p:scale>
          <a:sx n="100" d="100"/>
          <a:sy n="100" d="100"/>
        </p:scale>
        <p:origin x="-990" y="-432"/>
      </p:cViewPr>
      <p:guideLst>
        <p:guide orient="horz" pos="2160"/>
        <p:guide pos="3840"/>
      </p:guideLst>
    </p:cSldViewPr>
  </p:slideViewPr>
  <p:notesTextViewPr>
    <p:cViewPr>
      <p:scale>
        <a:sx n="1" d="1"/>
        <a:sy n="1" d="1"/>
      </p:scale>
      <p:origin x="0" y="0"/>
    </p:cViewPr>
  </p:notesTextViewPr>
  <p:sorterViewPr>
    <p:cViewPr>
      <p:scale>
        <a:sx n="50" d="100"/>
        <a:sy n="5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gs" Target="tags/tag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字魂58号-创中黑" pitchFamily="2" charset="-122"/>
                <a:ea typeface="字魂58号-创中黑"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字魂58号-创中黑" pitchFamily="2" charset="-122"/>
                <a:ea typeface="字魂58号-创中黑" pitchFamily="2" charset="-122"/>
              </a:defRPr>
            </a:lvl1pPr>
          </a:lstStyle>
          <a:p>
            <a:fld id="{A00174BB-53EE-45EA-84AF-842BFE25EA78}"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字魂58号-创中黑" pitchFamily="2" charset="-122"/>
                <a:ea typeface="字魂58号-创中黑"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字魂58号-创中黑" pitchFamily="2" charset="-122"/>
                <a:ea typeface="字魂58号-创中黑" pitchFamily="2" charset="-122"/>
              </a:defRPr>
            </a:lvl1pPr>
          </a:lstStyle>
          <a:p>
            <a:fld id="{A3616380-4D91-43BB-AB19-A369B4EA0778}" type="slidenum">
              <a:rPr lang="zh-CN" altLang="en-US" smtClean="0"/>
            </a:fld>
            <a:endParaRPr lang="zh-CN" alt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字魂58号-创中黑" pitchFamily="2" charset="-122"/>
        <a:ea typeface="字魂58号-创中黑" pitchFamily="2" charset="-122"/>
        <a:cs typeface="+mn-cs"/>
      </a:defRPr>
    </a:lvl1pPr>
    <a:lvl2pPr marL="457200" algn="l" defTabSz="914400" rtl="0" eaLnBrk="1" latinLnBrk="0" hangingPunct="1">
      <a:defRPr sz="1200" kern="1200">
        <a:solidFill>
          <a:schemeClr val="tx1"/>
        </a:solidFill>
        <a:latin typeface="字魂58号-创中黑" pitchFamily="2" charset="-122"/>
        <a:ea typeface="字魂58号-创中黑" pitchFamily="2" charset="-122"/>
        <a:cs typeface="+mn-cs"/>
      </a:defRPr>
    </a:lvl2pPr>
    <a:lvl3pPr marL="914400" algn="l" defTabSz="914400" rtl="0" eaLnBrk="1" latinLnBrk="0" hangingPunct="1">
      <a:defRPr sz="1200" kern="1200">
        <a:solidFill>
          <a:schemeClr val="tx1"/>
        </a:solidFill>
        <a:latin typeface="字魂58号-创中黑" pitchFamily="2" charset="-122"/>
        <a:ea typeface="字魂58号-创中黑" pitchFamily="2" charset="-122"/>
        <a:cs typeface="+mn-cs"/>
      </a:defRPr>
    </a:lvl3pPr>
    <a:lvl4pPr marL="1371600" algn="l" defTabSz="914400" rtl="0" eaLnBrk="1" latinLnBrk="0" hangingPunct="1">
      <a:defRPr sz="1200" kern="1200">
        <a:solidFill>
          <a:schemeClr val="tx1"/>
        </a:solidFill>
        <a:latin typeface="字魂58号-创中黑" pitchFamily="2" charset="-122"/>
        <a:ea typeface="字魂58号-创中黑" pitchFamily="2" charset="-122"/>
        <a:cs typeface="+mn-cs"/>
      </a:defRPr>
    </a:lvl4pPr>
    <a:lvl5pPr marL="1828800" algn="l" defTabSz="914400" rtl="0" eaLnBrk="1" latinLnBrk="0" hangingPunct="1">
      <a:defRPr sz="1200" kern="1200">
        <a:solidFill>
          <a:schemeClr val="tx1"/>
        </a:solidFill>
        <a:latin typeface="字魂58号-创中黑" pitchFamily="2" charset="-122"/>
        <a:ea typeface="字魂58号-创中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E50C4EE6-7E3D-412F-8AFA-B4D678A9EE79}" type="datetimeFigureOut">
              <a:rPr lang="zh-CN" altLang="en-US" smtClean="0"/>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9pPr>
          </a:lstStyle>
          <a:p>
            <a:r>
              <a:rPr lang="zh-CN" altLang="en-US"/>
              <a:t>单击此处编辑母版标题样式</a:t>
            </a:r>
            <a:endParaRPr lang="zh-CN" altLang="en-US"/>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endParaRPr lang="zh-CN" altLang="en-US"/>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rcRect l="5285"/>
          <a:stretch>
            <a:fillRect/>
          </a:stretch>
        </p:blipFill>
        <p:spPr>
          <a:xfrm>
            <a:off x="0" y="0"/>
            <a:ext cx="12192000" cy="6857999"/>
          </a:xfrm>
          <a:prstGeom prst="rect">
            <a:avLst/>
          </a:prstGeom>
        </p:spPr>
      </p:pic>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01-Main">
    <p:spTree>
      <p:nvGrpSpPr>
        <p:cNvPr id="1" name=""/>
        <p:cNvGrpSpPr/>
        <p:nvPr/>
      </p:nvGrpSpPr>
      <p:grpSpPr>
        <a:xfrm>
          <a:off x="0" y="0"/>
          <a:ext cx="0" cy="0"/>
          <a:chOff x="0" y="0"/>
          <a:chExt cx="0" cy="0"/>
        </a:xfrm>
      </p:grpSpPr>
      <p:sp>
        <p:nvSpPr>
          <p:cNvPr id="33" name="Rectangle 32"/>
          <p:cNvSpPr/>
          <p:nvPr userDrawn="1"/>
        </p:nvSpPr>
        <p:spPr>
          <a:xfrm>
            <a:off x="5147687" y="-223903"/>
            <a:ext cx="1895619" cy="1569660"/>
          </a:xfrm>
          <a:prstGeom prst="rect">
            <a:avLst/>
          </a:prstGeom>
        </p:spPr>
        <p:txBody>
          <a:bodyPr wrap="square">
            <a:spAutoFit/>
          </a:bodyPr>
          <a:lstStyle/>
          <a:p>
            <a:pPr algn="ctr"/>
            <a:fld id="{44B5E3D8-B559-49FC-84E7-900B409E63B2}" type="slidenum">
              <a:rPr kumimoji="0" lang="id-ID" sz="9600" b="1" i="0" u="none" strike="noStrike" kern="1200" cap="none" spc="0" normalizeH="0" baseline="0" noProof="0" smtClean="0">
                <a:ln>
                  <a:noFill/>
                </a:ln>
                <a:solidFill>
                  <a:schemeClr val="bg1"/>
                </a:solidFill>
                <a:effectLst/>
                <a:uLnTx/>
                <a:uFillTx/>
                <a:latin typeface="AvantGarde Bk BT" panose="020B0402020202020204" pitchFamily="34" charset="0"/>
                <a:ea typeface="Open Sans Condensed Light" panose="020B0306030504020204" pitchFamily="34" charset="0"/>
                <a:cs typeface="Open Sans Condensed Light" panose="020B0306030504020204" pitchFamily="34" charset="0"/>
              </a:rPr>
            </a:fld>
            <a:endParaRPr lang="bg-BG" sz="9600">
              <a:solidFill>
                <a:schemeClr val="bg1"/>
              </a:solidFill>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Large Footer">
    <p:spTree>
      <p:nvGrpSpPr>
        <p:cNvPr id="1" name=""/>
        <p:cNvGrpSpPr/>
        <p:nvPr/>
      </p:nvGrpSpPr>
      <p:grpSpPr>
        <a:xfrm>
          <a:off x="0" y="0"/>
          <a:ext cx="0" cy="0"/>
          <a:chOff x="0" y="0"/>
          <a:chExt cx="0" cy="0"/>
        </a:xfrm>
      </p:grpSpPr>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image" Target="../media/image2.png"/><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0632D7-6FC5-4F1F-BD09-62CFF46557A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DB11E6-E9F9-4B83-8B53-4B698CD69B7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8">
            <a:alphaModFix amt="70000"/>
          </a:blip>
          <a:stretch>
            <a:fillRect/>
          </a:stretch>
        </p:blipFill>
        <p:spPr>
          <a:xfrm>
            <a:off x="0" y="0"/>
            <a:ext cx="12192000" cy="6857999"/>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0"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vmlDrawing" Target="../drawings/vmlDrawing1.vml"/><Relationship Id="rId4" Type="http://schemas.openxmlformats.org/officeDocument/2006/relationships/slideLayout" Target="../slideLayouts/slideLayout9.xml"/><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image" Target="../media/image4.emf"/></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9.xml"/><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
          <p:cNvSpPr txBox="1"/>
          <p:nvPr/>
        </p:nvSpPr>
        <p:spPr>
          <a:xfrm>
            <a:off x="2891881" y="2343755"/>
            <a:ext cx="6408238" cy="1106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6600" b="1" dirty="0">
                <a:latin typeface="宋体" panose="02010600030101010101" pitchFamily="2" charset="-122"/>
                <a:ea typeface="宋体" panose="02010600030101010101" pitchFamily="2" charset="-122"/>
                <a:cs typeface="+mn-ea"/>
                <a:sym typeface="阿里巴巴普惠体"/>
              </a:rPr>
              <a:t>数据挖掘</a:t>
            </a:r>
            <a:endParaRPr lang="zh-CN" altLang="en-US" sz="6600" b="1" dirty="0">
              <a:latin typeface="宋体" panose="02010600030101010101" pitchFamily="2" charset="-122"/>
              <a:ea typeface="宋体" panose="02010600030101010101" pitchFamily="2" charset="-122"/>
              <a:cs typeface="+mn-ea"/>
              <a:sym typeface="阿里巴巴普惠体"/>
            </a:endParaRPr>
          </a:p>
        </p:txBody>
      </p:sp>
      <p:cxnSp>
        <p:nvCxnSpPr>
          <p:cNvPr id="4" name="直接连接符 3"/>
          <p:cNvCxnSpPr/>
          <p:nvPr/>
        </p:nvCxnSpPr>
        <p:spPr>
          <a:xfrm>
            <a:off x="3056829" y="3793612"/>
            <a:ext cx="6078342" cy="0"/>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副标题 2"/>
          <p:cNvSpPr>
            <a:spLocks noGrp="1"/>
          </p:cNvSpPr>
          <p:nvPr>
            <p:ph type="subTitle" idx="1"/>
          </p:nvPr>
        </p:nvSpPr>
        <p:spPr>
          <a:xfrm>
            <a:off x="0" y="3913505"/>
            <a:ext cx="12192000" cy="3126105"/>
          </a:xfrm>
        </p:spPr>
        <p:txBody>
          <a:bodyPr>
            <a:normAutofit/>
          </a:bodyPr>
          <a:p>
            <a:pPr marL="0" indent="0" algn="ctr">
              <a:buNone/>
            </a:pPr>
            <a:r>
              <a:rPr lang="zh-CN" altLang="en-US" sz="3200">
                <a:latin typeface="微软雅黑" panose="020B0503020204020204" pitchFamily="34" charset="-122"/>
                <a:ea typeface="微软雅黑" panose="020B0503020204020204" pitchFamily="34" charset="-122"/>
              </a:rPr>
              <a:t>第四章作业</a:t>
            </a:r>
            <a:endParaRPr lang="zh-CN" altLang="en-US" sz="3200">
              <a:latin typeface="微软雅黑" panose="020B0503020204020204" pitchFamily="34" charset="-122"/>
              <a:ea typeface="微软雅黑" panose="020B0503020204020204" pitchFamily="34" charset="-122"/>
            </a:endParaRPr>
          </a:p>
          <a:p>
            <a:pPr algn="ctr"/>
            <a:endParaRPr lang="zh-CN" altLang="en-US"/>
          </a:p>
          <a:p>
            <a:pPr algn="ctr"/>
            <a:endParaRPr lang="zh-CN" altLang="en-US"/>
          </a:p>
          <a:p>
            <a:pPr marL="0" indent="0" algn="ctr">
              <a:buNone/>
            </a:pPr>
            <a:r>
              <a:rPr lang="zh-CN" altLang="en-US" sz="1800"/>
              <a:t>宋子旻   信管</a:t>
            </a:r>
            <a:r>
              <a:rPr lang="en-US" altLang="zh-CN" sz="1800"/>
              <a:t>2302   202321054046</a:t>
            </a:r>
            <a:endParaRPr lang="en-US" altLang="zh-CN" sz="180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381760" y="3442970"/>
            <a:ext cx="9429115" cy="3461385"/>
          </a:xfrm>
          <a:prstGeom prst="rect">
            <a:avLst/>
          </a:prstGeom>
          <a:noFill/>
        </p:spPr>
        <p:txBody>
          <a:bodyPr wrap="square" rtlCol="0">
            <a:spAutoFit/>
          </a:bodyPr>
          <a:lstStyle/>
          <a:p>
            <a:pPr fontAlgn="base">
              <a:lnSpc>
                <a:spcPct val="150000"/>
              </a:lnSpc>
            </a:pPr>
            <a:r>
              <a:rPr lang="en-US" sz="2000" b="1">
                <a:latin typeface="阿里巴巴普惠体"/>
                <a:ea typeface="字魂58号-创中黑"/>
                <a:cs typeface="+mn-ea"/>
                <a:sym typeface="+mn-ea"/>
              </a:rPr>
              <a:t>聚类的基本概念：</a:t>
            </a:r>
            <a:endParaRPr lang="en-US" sz="2000" b="1">
              <a:latin typeface="阿里巴巴普惠体"/>
              <a:ea typeface="字魂58号-创中黑"/>
              <a:cs typeface="+mn-ea"/>
            </a:endParaRPr>
          </a:p>
          <a:p>
            <a:pPr fontAlgn="base">
              <a:lnSpc>
                <a:spcPct val="150000"/>
              </a:lnSpc>
            </a:pPr>
            <a:r>
              <a:rPr lang="en-US" sz="1800">
                <a:latin typeface="阿里巴巴普惠体"/>
                <a:ea typeface="字魂58号-创中黑"/>
                <a:cs typeface="+mn-ea"/>
                <a:sym typeface="+mn-ea"/>
              </a:rPr>
              <a:t>将物理或抽象对象的集合分成由类似的对象组成的多个类或簇的过程被称为聚类。</a:t>
            </a:r>
            <a:endParaRPr lang="en-US" sz="1800">
              <a:latin typeface="阿里巴巴普惠体"/>
              <a:ea typeface="字魂58号-创中黑"/>
              <a:cs typeface="+mn-ea"/>
            </a:endParaRPr>
          </a:p>
          <a:p>
            <a:pPr fontAlgn="base">
              <a:lnSpc>
                <a:spcPct val="150000"/>
              </a:lnSpc>
            </a:pPr>
            <a:endParaRPr lang="en-US" sz="1800">
              <a:solidFill>
                <a:schemeClr val="tx1"/>
              </a:solidFill>
              <a:latin typeface="阿里巴巴普惠体"/>
              <a:ea typeface="字魂58号-创中黑"/>
              <a:cs typeface="+mn-ea"/>
              <a:sym typeface="阿里巴巴普惠体"/>
            </a:endParaRPr>
          </a:p>
          <a:p>
            <a:pPr fontAlgn="base">
              <a:lnSpc>
                <a:spcPct val="150000"/>
              </a:lnSpc>
            </a:pPr>
            <a:r>
              <a:rPr lang="en-US" sz="2000" b="1">
                <a:latin typeface="阿里巴巴普惠体"/>
                <a:ea typeface="字魂58号-创中黑"/>
                <a:cs typeface="+mn-ea"/>
                <a:sym typeface="+mn-ea"/>
              </a:rPr>
              <a:t>聚类理解的三个层次：</a:t>
            </a:r>
            <a:br>
              <a:rPr lang="en-US" sz="1800">
                <a:latin typeface="阿里巴巴普惠体"/>
                <a:ea typeface="字魂58号-创中黑"/>
                <a:cs typeface="+mn-ea"/>
                <a:sym typeface="+mn-ea"/>
              </a:rPr>
            </a:br>
            <a:r>
              <a:rPr lang="en-US" sz="1800">
                <a:latin typeface="阿里巴巴普惠体"/>
                <a:ea typeface="字魂58号-创中黑"/>
                <a:cs typeface="+mn-ea"/>
                <a:sym typeface="+mn-ea"/>
              </a:rPr>
              <a:t>层次一：“物以类聚，人以群分”（感官 J P187）</a:t>
            </a:r>
            <a:endParaRPr lang="en-US" sz="1800">
              <a:latin typeface="阿里巴巴普惠体"/>
              <a:ea typeface="字魂58号-创中黑"/>
              <a:cs typeface="+mn-ea"/>
            </a:endParaRPr>
          </a:p>
          <a:p>
            <a:pPr fontAlgn="base">
              <a:lnSpc>
                <a:spcPct val="150000"/>
              </a:lnSpc>
            </a:pPr>
            <a:r>
              <a:rPr lang="en-US" sz="1800">
                <a:latin typeface="阿里巴巴普惠体"/>
                <a:ea typeface="字魂58号-创中黑"/>
                <a:cs typeface="+mn-ea"/>
                <a:sym typeface="+mn-ea"/>
              </a:rPr>
              <a:t>层次二：同一个簇中的对象相似度较高，与其它簇中的对象相似度较低。（逻辑 JP188）</a:t>
            </a:r>
            <a:endParaRPr lang="en-US" sz="1800">
              <a:latin typeface="阿里巴巴普惠体"/>
              <a:ea typeface="字魂58号-创中黑"/>
              <a:cs typeface="+mn-ea"/>
            </a:endParaRPr>
          </a:p>
          <a:p>
            <a:pPr fontAlgn="base">
              <a:lnSpc>
                <a:spcPct val="150000"/>
              </a:lnSpc>
            </a:pPr>
            <a:r>
              <a:rPr lang="en-US" sz="1800">
                <a:latin typeface="阿里巴巴普惠体"/>
                <a:ea typeface="字魂58号-创中黑"/>
                <a:cs typeface="+mn-ea"/>
                <a:sym typeface="+mn-ea"/>
              </a:rPr>
              <a:t>层次三：同一个分组中的记录越近越好，而不同分组中的记录越远越好。（量化 JP192）</a:t>
            </a:r>
            <a:endParaRPr lang="en-US" sz="1800">
              <a:latin typeface="阿里巴巴普惠体"/>
              <a:ea typeface="字魂58号-创中黑"/>
              <a:cs typeface="+mn-ea"/>
            </a:endParaRPr>
          </a:p>
          <a:p>
            <a:pPr fontAlgn="base">
              <a:lnSpc>
                <a:spcPct val="150000"/>
              </a:lnSpc>
            </a:pPr>
            <a:endParaRPr lang="en-US" sz="1800">
              <a:solidFill>
                <a:schemeClr val="tx1"/>
              </a:solidFill>
              <a:latin typeface="阿里巴巴普惠体"/>
              <a:ea typeface="字魂58号-创中黑"/>
              <a:cs typeface="+mn-ea"/>
              <a:sym typeface="阿里巴巴普惠体"/>
            </a:endParaRPr>
          </a:p>
        </p:txBody>
      </p:sp>
      <p:sp>
        <p:nvSpPr>
          <p:cNvPr id="3" name="Rectangle 7"/>
          <p:cNvSpPr/>
          <p:nvPr/>
        </p:nvSpPr>
        <p:spPr>
          <a:xfrm>
            <a:off x="4331335" y="297180"/>
            <a:ext cx="3529330" cy="583565"/>
          </a:xfrm>
          <a:prstGeom prst="rect">
            <a:avLst/>
          </a:prstGeom>
        </p:spPr>
        <p:txBody>
          <a:bodyPr wrap="square">
            <a:spAutoFit/>
          </a:bodyPr>
          <a:p>
            <a:pPr algn="ctr"/>
            <a:r>
              <a:rPr lang="zh-CN" altLang="en-US" sz="3200" b="1" dirty="0">
                <a:latin typeface="阿里巴巴普惠体"/>
                <a:ea typeface="字魂58号-创中黑"/>
                <a:cs typeface="+mn-ea"/>
                <a:sym typeface="阿里巴巴普惠体"/>
              </a:rPr>
              <a:t>簇的概念</a:t>
            </a:r>
            <a:endParaRPr lang="zh-CN" altLang="en-US" sz="3200" b="1" dirty="0">
              <a:latin typeface="阿里巴巴普惠体"/>
              <a:ea typeface="字魂58号-创中黑"/>
              <a:cs typeface="+mn-ea"/>
              <a:sym typeface="阿里巴巴普惠体"/>
            </a:endParaRPr>
          </a:p>
        </p:txBody>
      </p:sp>
      <p:pic>
        <p:nvPicPr>
          <p:cNvPr id="2" name="图片 1" descr="3742899b8f2d889beadd2a75118c9e8a"/>
          <p:cNvPicPr>
            <a:picLocks noChangeAspect="1"/>
          </p:cNvPicPr>
          <p:nvPr/>
        </p:nvPicPr>
        <p:blipFill>
          <a:blip r:embed="rId1"/>
          <a:stretch>
            <a:fillRect/>
          </a:stretch>
        </p:blipFill>
        <p:spPr>
          <a:xfrm>
            <a:off x="2306955" y="880745"/>
            <a:ext cx="7576185" cy="264287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743075" y="1475740"/>
            <a:ext cx="3462655" cy="2676525"/>
          </a:xfrm>
          <a:prstGeom prst="rect">
            <a:avLst/>
          </a:prstGeom>
          <a:noFill/>
        </p:spPr>
        <p:txBody>
          <a:bodyPr wrap="square" rtlCol="0">
            <a:spAutoFit/>
          </a:bodyPr>
          <a:lstStyle/>
          <a:p>
            <a:pPr fontAlgn="base">
              <a:lnSpc>
                <a:spcPct val="150000"/>
              </a:lnSpc>
            </a:pPr>
            <a:r>
              <a:rPr lang="en-US" sz="2800" b="1">
                <a:solidFill>
                  <a:schemeClr val="tx1"/>
                </a:solidFill>
                <a:latin typeface="阿里巴巴普惠体"/>
                <a:ea typeface="字魂58号-创中黑"/>
                <a:cs typeface="+mn-ea"/>
                <a:sym typeface="阿里巴巴普惠体"/>
              </a:rPr>
              <a:t>1.</a:t>
            </a:r>
            <a:r>
              <a:rPr lang="en-US" sz="2800" b="1">
                <a:latin typeface="阿里巴巴普惠体"/>
                <a:ea typeface="字魂58号-创中黑"/>
                <a:cs typeface="+mn-ea"/>
                <a:sym typeface="+mn-ea"/>
              </a:rPr>
              <a:t>欧式距离</a:t>
            </a:r>
            <a:endParaRPr lang="en-US" sz="2800" b="1">
              <a:latin typeface="阿里巴巴普惠体"/>
              <a:ea typeface="字魂58号-创中黑"/>
              <a:cs typeface="+mn-ea"/>
            </a:endParaRPr>
          </a:p>
          <a:p>
            <a:pPr fontAlgn="base">
              <a:lnSpc>
                <a:spcPct val="150000"/>
              </a:lnSpc>
            </a:pPr>
            <a:endParaRPr lang="en-US" sz="2800" b="1">
              <a:solidFill>
                <a:schemeClr val="tx1"/>
              </a:solidFill>
              <a:latin typeface="阿里巴巴普惠体"/>
              <a:ea typeface="字魂58号-创中黑"/>
              <a:cs typeface="+mn-ea"/>
              <a:sym typeface="阿里巴巴普惠体"/>
            </a:endParaRPr>
          </a:p>
          <a:p>
            <a:pPr fontAlgn="base">
              <a:lnSpc>
                <a:spcPct val="150000"/>
              </a:lnSpc>
            </a:pPr>
            <a:endParaRPr lang="en-US" sz="2800" b="1">
              <a:solidFill>
                <a:schemeClr val="tx1"/>
              </a:solidFill>
              <a:latin typeface="阿里巴巴普惠体"/>
              <a:ea typeface="字魂58号-创中黑"/>
              <a:cs typeface="+mn-ea"/>
              <a:sym typeface="阿里巴巴普惠体"/>
            </a:endParaRPr>
          </a:p>
          <a:p>
            <a:pPr fontAlgn="base">
              <a:lnSpc>
                <a:spcPct val="150000"/>
              </a:lnSpc>
            </a:pPr>
            <a:r>
              <a:rPr lang="en-US" sz="2800" b="1">
                <a:latin typeface="阿里巴巴普惠体"/>
                <a:ea typeface="字魂58号-创中黑"/>
                <a:cs typeface="+mn-ea"/>
                <a:sym typeface="+mn-ea"/>
              </a:rPr>
              <a:t>2.余弦相似度</a:t>
            </a:r>
            <a:endParaRPr lang="en-US" sz="2800" b="1">
              <a:solidFill>
                <a:schemeClr val="tx1"/>
              </a:solidFill>
              <a:latin typeface="阿里巴巴普惠体"/>
              <a:ea typeface="字魂58号-创中黑"/>
              <a:cs typeface="+mn-ea"/>
              <a:sym typeface="+mn-ea"/>
            </a:endParaRPr>
          </a:p>
        </p:txBody>
      </p:sp>
      <p:sp>
        <p:nvSpPr>
          <p:cNvPr id="3" name="Rectangle 7"/>
          <p:cNvSpPr/>
          <p:nvPr/>
        </p:nvSpPr>
        <p:spPr>
          <a:xfrm>
            <a:off x="3582035" y="404495"/>
            <a:ext cx="4527550" cy="583565"/>
          </a:xfrm>
          <a:prstGeom prst="rect">
            <a:avLst/>
          </a:prstGeom>
        </p:spPr>
        <p:txBody>
          <a:bodyPr wrap="square">
            <a:spAutoFit/>
          </a:bodyPr>
          <a:p>
            <a:pPr algn="ctr"/>
            <a:r>
              <a:rPr lang="zh-CN" altLang="en-US" sz="3200" b="1" dirty="0">
                <a:latin typeface="阿里巴巴普惠体"/>
                <a:ea typeface="字魂58号-创中黑"/>
                <a:cs typeface="+mn-ea"/>
                <a:sym typeface="+mn-ea"/>
              </a:rPr>
              <a:t>类度量的两种基本方法</a:t>
            </a:r>
            <a:endParaRPr lang="zh-CN" altLang="en-US" sz="3200" b="1" dirty="0">
              <a:latin typeface="阿里巴巴普惠体"/>
              <a:ea typeface="字魂58号-创中黑"/>
              <a:cs typeface="+mn-ea"/>
              <a:sym typeface="阿里巴巴普惠体"/>
            </a:endParaRPr>
          </a:p>
        </p:txBody>
      </p:sp>
      <p:pic>
        <p:nvPicPr>
          <p:cNvPr id="5" name="图片 4"/>
          <p:cNvPicPr>
            <a:picLocks noChangeAspect="1"/>
          </p:cNvPicPr>
          <p:nvPr/>
        </p:nvPicPr>
        <p:blipFill>
          <a:blip r:embed="rId1"/>
          <a:stretch>
            <a:fillRect/>
          </a:stretch>
        </p:blipFill>
        <p:spPr>
          <a:xfrm>
            <a:off x="2067560" y="2261235"/>
            <a:ext cx="7030720" cy="1106170"/>
          </a:xfrm>
          <a:prstGeom prst="rect">
            <a:avLst/>
          </a:prstGeom>
        </p:spPr>
      </p:pic>
      <p:graphicFrame>
        <p:nvGraphicFramePr>
          <p:cNvPr id="8" name="Object 7"/>
          <p:cNvGraphicFramePr>
            <a:graphicFrameLocks noChangeAspect="1"/>
          </p:cNvGraphicFramePr>
          <p:nvPr/>
        </p:nvGraphicFramePr>
        <p:xfrm>
          <a:off x="2067560" y="4152265"/>
          <a:ext cx="6955155" cy="1834515"/>
        </p:xfrm>
        <a:graphic>
          <a:graphicData uri="http://schemas.openxmlformats.org/presentationml/2006/ole">
            <mc:AlternateContent xmlns:mc="http://schemas.openxmlformats.org/markup-compatibility/2006">
              <mc:Choice xmlns:v="urn:schemas-microsoft-com:vml" Requires="v">
                <p:oleObj spid="_x0000_s1106" name="公式" r:id="rId2" imgW="3441700" imgH="901700" progId="Equation.3">
                  <p:embed/>
                </p:oleObj>
              </mc:Choice>
              <mc:Fallback>
                <p:oleObj name="公式" r:id="rId2" imgW="3441700" imgH="9017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7560" y="4152265"/>
                        <a:ext cx="6955155" cy="1834515"/>
                      </a:xfrm>
                      <a:prstGeom prst="rect">
                        <a:avLst/>
                      </a:prstGeom>
                      <a:noFill/>
                    </p:spPr>
                  </p:pic>
                </p:oleObj>
              </mc:Fallback>
            </mc:AlternateContent>
          </a:graphicData>
        </a:graphic>
      </p:graphicFrame>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18745" y="1475105"/>
            <a:ext cx="7995285" cy="5123180"/>
          </a:xfrm>
          <a:prstGeom prst="rect">
            <a:avLst/>
          </a:prstGeom>
          <a:noFill/>
        </p:spPr>
        <p:txBody>
          <a:bodyPr wrap="square" rtlCol="0">
            <a:spAutoFit/>
          </a:bodyPr>
          <a:lstStyle/>
          <a:p>
            <a:pPr fontAlgn="base">
              <a:lnSpc>
                <a:spcPct val="150000"/>
              </a:lnSpc>
            </a:pPr>
            <a:r>
              <a:rPr lang="zh-CN" altLang="en-US" sz="2400">
                <a:latin typeface="阿里巴巴普惠体"/>
                <a:ea typeface="字魂58号-创中黑"/>
                <a:cs typeface="+mn-ea"/>
                <a:sym typeface="+mn-ea"/>
              </a:rPr>
              <a:t>二维平面上点a(x1,y1)b(x2,y2）间</a:t>
            </a:r>
            <a:endParaRPr lang="zh-CN" altLang="en-US" sz="2400">
              <a:latin typeface="阿里巴巴普惠体"/>
              <a:ea typeface="字魂58号-创中黑"/>
              <a:cs typeface="+mn-ea"/>
              <a:sym typeface="+mn-ea"/>
            </a:endParaRPr>
          </a:p>
          <a:p>
            <a:pPr fontAlgn="base">
              <a:lnSpc>
                <a:spcPct val="150000"/>
              </a:lnSpc>
            </a:pPr>
            <a:r>
              <a:rPr lang="zh-CN" altLang="en-US" sz="2400">
                <a:latin typeface="阿里巴巴普惠体"/>
                <a:ea typeface="字魂58号-创中黑"/>
                <a:cs typeface="+mn-ea"/>
                <a:sym typeface="+mn-ea"/>
              </a:rPr>
              <a:t>的欧氏距离:</a:t>
            </a:r>
            <a:endParaRPr lang="zh-CN" altLang="en-US" sz="2400">
              <a:latin typeface="阿里巴巴普惠体"/>
              <a:ea typeface="字魂58号-创中黑"/>
              <a:cs typeface="+mn-ea"/>
              <a:sym typeface="+mn-ea"/>
            </a:endParaRPr>
          </a:p>
          <a:p>
            <a:pPr fontAlgn="base">
              <a:lnSpc>
                <a:spcPct val="150000"/>
              </a:lnSpc>
            </a:pPr>
            <a:endParaRPr lang="zh-CN" altLang="en-US" sz="2400">
              <a:latin typeface="阿里巴巴普惠体"/>
              <a:ea typeface="字魂58号-创中黑"/>
              <a:cs typeface="+mn-ea"/>
              <a:sym typeface="+mn-ea"/>
            </a:endParaRPr>
          </a:p>
          <a:p>
            <a:pPr fontAlgn="base">
              <a:lnSpc>
                <a:spcPct val="150000"/>
              </a:lnSpc>
            </a:pPr>
            <a:endParaRPr lang="zh-CN" altLang="en-US" sz="2400">
              <a:latin typeface="阿里巴巴普惠体"/>
              <a:ea typeface="字魂58号-创中黑"/>
              <a:cs typeface="+mn-ea"/>
              <a:sym typeface="+mn-ea"/>
            </a:endParaRPr>
          </a:p>
          <a:p>
            <a:pPr fontAlgn="base">
              <a:lnSpc>
                <a:spcPct val="150000"/>
              </a:lnSpc>
            </a:pPr>
            <a:endParaRPr lang="zh-CN" altLang="en-US" sz="2400">
              <a:latin typeface="阿里巴巴普惠体"/>
              <a:ea typeface="字魂58号-创中黑"/>
              <a:cs typeface="+mn-ea"/>
              <a:sym typeface="+mn-ea"/>
            </a:endParaRPr>
          </a:p>
          <a:p>
            <a:pPr fontAlgn="base">
              <a:lnSpc>
                <a:spcPct val="150000"/>
              </a:lnSpc>
            </a:pPr>
            <a:r>
              <a:rPr lang="zh-CN" altLang="en-US" sz="2400">
                <a:latin typeface="阿里巴巴普惠体"/>
                <a:ea typeface="字魂58号-创中黑"/>
                <a:cs typeface="+mn-ea"/>
                <a:sym typeface="+mn-ea"/>
              </a:rPr>
              <a:t>二维空间中向量A与向量B的夹角余弦公式：</a:t>
            </a:r>
            <a:endParaRPr lang="zh-CN" altLang="en-US" sz="2400">
              <a:latin typeface="阿里巴巴普惠体"/>
              <a:ea typeface="字魂58号-创中黑"/>
              <a:cs typeface="+mn-ea"/>
            </a:endParaRPr>
          </a:p>
          <a:p>
            <a:pPr fontAlgn="base">
              <a:lnSpc>
                <a:spcPct val="150000"/>
              </a:lnSpc>
            </a:pPr>
            <a:endParaRPr lang="zh-CN" altLang="en-US" sz="1800" b="1">
              <a:latin typeface="阿里巴巴普惠体"/>
              <a:ea typeface="字魂58号-创中黑"/>
              <a:cs typeface="+mn-ea"/>
            </a:endParaRPr>
          </a:p>
          <a:p>
            <a:pPr fontAlgn="base">
              <a:lnSpc>
                <a:spcPct val="150000"/>
              </a:lnSpc>
            </a:pPr>
            <a:endParaRPr lang="en-US" sz="2800" b="1">
              <a:latin typeface="阿里巴巴普惠体"/>
              <a:ea typeface="字魂58号-创中黑"/>
              <a:cs typeface="+mn-ea"/>
            </a:endParaRPr>
          </a:p>
          <a:p>
            <a:pPr fontAlgn="base">
              <a:lnSpc>
                <a:spcPct val="150000"/>
              </a:lnSpc>
            </a:pPr>
            <a:endParaRPr lang="en-US" sz="2800" b="1">
              <a:solidFill>
                <a:schemeClr val="tx1"/>
              </a:solidFill>
              <a:latin typeface="阿里巴巴普惠体"/>
              <a:ea typeface="字魂58号-创中黑"/>
              <a:cs typeface="+mn-ea"/>
              <a:sym typeface="+mn-ea"/>
            </a:endParaRPr>
          </a:p>
        </p:txBody>
      </p:sp>
      <p:sp>
        <p:nvSpPr>
          <p:cNvPr id="3" name="Rectangle 7"/>
          <p:cNvSpPr/>
          <p:nvPr/>
        </p:nvSpPr>
        <p:spPr>
          <a:xfrm>
            <a:off x="3519805" y="404495"/>
            <a:ext cx="5152390" cy="583565"/>
          </a:xfrm>
          <a:prstGeom prst="rect">
            <a:avLst/>
          </a:prstGeom>
        </p:spPr>
        <p:txBody>
          <a:bodyPr wrap="square">
            <a:spAutoFit/>
          </a:bodyPr>
          <a:p>
            <a:pPr algn="ctr"/>
            <a:r>
              <a:rPr lang="zh-CN" altLang="en-US" sz="3200" b="1" dirty="0">
                <a:latin typeface="阿里巴巴普惠体"/>
                <a:ea typeface="字魂58号-创中黑"/>
                <a:cs typeface="+mn-ea"/>
                <a:sym typeface="+mn-ea"/>
              </a:rPr>
              <a:t>二维坐标系下的距离变量</a:t>
            </a:r>
            <a:endParaRPr lang="zh-CN" altLang="en-US" sz="3200" b="1" dirty="0">
              <a:latin typeface="阿里巴巴普惠体"/>
              <a:ea typeface="字魂58号-创中黑"/>
              <a:cs typeface="+mn-ea"/>
              <a:sym typeface="阿里巴巴普惠体"/>
            </a:endParaRPr>
          </a:p>
        </p:txBody>
      </p:sp>
      <p:pic>
        <p:nvPicPr>
          <p:cNvPr id="18" name="图片 17"/>
          <p:cNvPicPr>
            <a:picLocks noChangeAspect="1"/>
          </p:cNvPicPr>
          <p:nvPr/>
        </p:nvPicPr>
        <p:blipFill>
          <a:blip r:embed="rId1"/>
          <a:stretch>
            <a:fillRect/>
          </a:stretch>
        </p:blipFill>
        <p:spPr>
          <a:xfrm>
            <a:off x="498475" y="3098165"/>
            <a:ext cx="5238750" cy="1028700"/>
          </a:xfrm>
          <a:prstGeom prst="rect">
            <a:avLst/>
          </a:prstGeom>
        </p:spPr>
      </p:pic>
      <p:pic>
        <p:nvPicPr>
          <p:cNvPr id="20" name="图片 19"/>
          <p:cNvPicPr>
            <a:picLocks noChangeAspect="1"/>
          </p:cNvPicPr>
          <p:nvPr/>
        </p:nvPicPr>
        <p:blipFill>
          <a:blip r:embed="rId2"/>
          <a:stretch>
            <a:fillRect/>
          </a:stretch>
        </p:blipFill>
        <p:spPr>
          <a:xfrm>
            <a:off x="612775" y="5039995"/>
            <a:ext cx="5124450" cy="1219200"/>
          </a:xfrm>
          <a:prstGeom prst="rect">
            <a:avLst/>
          </a:prstGeom>
        </p:spPr>
      </p:pic>
      <p:pic>
        <p:nvPicPr>
          <p:cNvPr id="2" name="图片 1" descr="a46c453e887a2d8826645ac8c367e468"/>
          <p:cNvPicPr>
            <a:picLocks noChangeAspect="1"/>
          </p:cNvPicPr>
          <p:nvPr/>
        </p:nvPicPr>
        <p:blipFill>
          <a:blip r:embed="rId3"/>
          <a:stretch>
            <a:fillRect/>
          </a:stretch>
        </p:blipFill>
        <p:spPr>
          <a:xfrm>
            <a:off x="5982335" y="1269365"/>
            <a:ext cx="6086475" cy="5328920"/>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9"/>
          <p:cNvSpPr txBox="1"/>
          <p:nvPr/>
        </p:nvSpPr>
        <p:spPr>
          <a:xfrm>
            <a:off x="-635" y="0"/>
            <a:ext cx="6069965" cy="6785610"/>
          </a:xfrm>
          <a:prstGeom prst="rect">
            <a:avLst/>
          </a:prstGeom>
          <a:noFill/>
        </p:spPr>
        <p:txBody>
          <a:bodyPr wrap="square" rtlCol="0">
            <a:spAutoFit/>
          </a:bodyPr>
          <a:p>
            <a:pPr fontAlgn="base">
              <a:lnSpc>
                <a:spcPct val="150000"/>
              </a:lnSpc>
            </a:pPr>
            <a:r>
              <a:rPr lang="zh-CN" altLang="en-US" sz="2000" b="1">
                <a:solidFill>
                  <a:schemeClr val="tx1"/>
                </a:solidFill>
                <a:latin typeface="阿里巴巴普惠体"/>
                <a:ea typeface="字魂58号-创中黑"/>
                <a:cs typeface="+mn-ea"/>
                <a:sym typeface="阿里巴巴普惠体"/>
              </a:rPr>
              <a:t>为什么使用余弦而不是别的函数表示相似度？</a:t>
            </a:r>
            <a:br>
              <a:rPr lang="zh-CN" altLang="en-US" sz="1800">
                <a:solidFill>
                  <a:schemeClr val="tx1"/>
                </a:solidFill>
                <a:latin typeface="阿里巴巴普惠体"/>
                <a:ea typeface="字魂58号-创中黑"/>
                <a:cs typeface="+mn-ea"/>
                <a:sym typeface="阿里巴巴普惠体"/>
              </a:rPr>
            </a:br>
            <a:r>
              <a:rPr lang="zh-CN" altLang="en-US" sz="1800" b="1">
                <a:solidFill>
                  <a:schemeClr val="tx1"/>
                </a:solidFill>
                <a:latin typeface="阿里巴巴普惠体"/>
                <a:ea typeface="字魂58号-创中黑"/>
                <a:cs typeface="+mn-ea"/>
                <a:sym typeface="阿里巴巴普惠体"/>
              </a:rPr>
              <a:t>1. 为什么用 cosine 表达相似度？</a:t>
            </a:r>
            <a:endParaRPr lang="zh-CN" altLang="en-US" sz="1800" b="1">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因为 cosine 只看“方向”，不看“长度”。向量相似度本质上是：</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两个向量在空间里的“方向”是否一致。</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长度（模长）代表“强度、大小、数量”</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方向代表“语义、主题、特征分布”</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在文本、词向量、特征向量、情报检索里，我们只关心语义方向，不关心长度。</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所以用 cosine 最合适。</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b="1">
                <a:solidFill>
                  <a:schemeClr val="tx1"/>
                </a:solidFill>
                <a:latin typeface="阿里巴巴普惠体"/>
                <a:ea typeface="字魂58号-创中黑"/>
                <a:cs typeface="+mn-ea"/>
                <a:sym typeface="阿里巴巴普惠体"/>
              </a:rPr>
              <a:t>2. </a:t>
            </a:r>
            <a:r>
              <a:rPr lang="zh-CN" altLang="en-US" sz="1800">
                <a:solidFill>
                  <a:schemeClr val="tx1"/>
                </a:solidFill>
                <a:latin typeface="阿里巴巴普惠体"/>
                <a:ea typeface="字魂58号-创中黑"/>
                <a:cs typeface="+mn-ea"/>
                <a:sym typeface="阿里巴巴普惠体"/>
              </a:rPr>
              <a:t>0° ~ 90°（锐角）：相似 → 不相关</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cos(0°) = 1：方向完全一致 → 完全相似</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角度越大 → cos越小 → 相似度越低</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cos(90°) = 0：方向正交 → 完全不相关、独立、无关系</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这里的“不相关”就是：两个向量在空间里互相垂直，没有任何共同方向，彼此独立。</a:t>
            </a:r>
            <a:endParaRPr lang="zh-CN" altLang="en-US" sz="1800">
              <a:solidFill>
                <a:schemeClr val="tx1"/>
              </a:solidFill>
              <a:latin typeface="阿里巴巴普惠体"/>
              <a:ea typeface="字魂58号-创中黑"/>
              <a:cs typeface="+mn-ea"/>
              <a:sym typeface="阿里巴巴普惠体"/>
            </a:endParaRPr>
          </a:p>
        </p:txBody>
      </p:sp>
      <p:sp>
        <p:nvSpPr>
          <p:cNvPr id="4" name="TextBox 9"/>
          <p:cNvSpPr txBox="1"/>
          <p:nvPr/>
        </p:nvSpPr>
        <p:spPr>
          <a:xfrm>
            <a:off x="5836920" y="3858260"/>
            <a:ext cx="6534150" cy="2999740"/>
          </a:xfrm>
          <a:prstGeom prst="rect">
            <a:avLst/>
          </a:prstGeom>
          <a:noFill/>
        </p:spPr>
        <p:txBody>
          <a:bodyPr wrap="square" rtlCol="0">
            <a:spAutoFit/>
          </a:bodyPr>
          <a:p>
            <a:pPr fontAlgn="base">
              <a:lnSpc>
                <a:spcPct val="150000"/>
              </a:lnSpc>
            </a:pPr>
            <a:r>
              <a:rPr lang="zh-CN" altLang="en-US" sz="1800" b="1">
                <a:solidFill>
                  <a:schemeClr val="tx1"/>
                </a:solidFill>
                <a:latin typeface="阿里巴巴普惠体"/>
                <a:ea typeface="字魂58号-创中黑"/>
                <a:cs typeface="+mn-ea"/>
                <a:sym typeface="阿里巴巴普惠体"/>
              </a:rPr>
              <a:t>5. 总结</a:t>
            </a:r>
            <a:endParaRPr lang="zh-CN" altLang="en-US" sz="1800" b="1">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1 → 完全同向（最相似）</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0~1 → 相似（角度越大越不相似）</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0 → 正交（完全无关）</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-1~0 → 相反（角度越大越对立）</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-1 → 完全反向（最对立）</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负数相似度不是“不相似”，是“反相似、相反、对立”。</a:t>
            </a:r>
            <a:endParaRPr lang="zh-CN" altLang="en-US" sz="1800">
              <a:solidFill>
                <a:schemeClr val="tx1"/>
              </a:solidFill>
              <a:latin typeface="阿里巴巴普惠体"/>
              <a:ea typeface="字魂58号-创中黑"/>
              <a:cs typeface="+mn-ea"/>
              <a:sym typeface="阿里巴巴普惠体"/>
            </a:endParaRPr>
          </a:p>
        </p:txBody>
      </p:sp>
      <p:sp>
        <p:nvSpPr>
          <p:cNvPr id="6" name="TextBox 9"/>
          <p:cNvSpPr txBox="1"/>
          <p:nvPr/>
        </p:nvSpPr>
        <p:spPr>
          <a:xfrm>
            <a:off x="5836920" y="0"/>
            <a:ext cx="6354445" cy="3830955"/>
          </a:xfrm>
          <a:prstGeom prst="rect">
            <a:avLst/>
          </a:prstGeom>
          <a:noFill/>
        </p:spPr>
        <p:txBody>
          <a:bodyPr wrap="square" rtlCol="0">
            <a:spAutoFit/>
          </a:bodyPr>
          <a:p>
            <a:pPr fontAlgn="base">
              <a:lnSpc>
                <a:spcPct val="150000"/>
              </a:lnSpc>
            </a:pPr>
            <a:r>
              <a:rPr lang="zh-CN" altLang="en-US" sz="1800" b="1">
                <a:solidFill>
                  <a:schemeClr val="tx1"/>
                </a:solidFill>
                <a:latin typeface="阿里巴巴普惠体"/>
                <a:ea typeface="字魂58号-创中黑"/>
                <a:cs typeface="+mn-ea"/>
                <a:sym typeface="阿里巴巴普惠体"/>
              </a:rPr>
              <a:t>3. </a:t>
            </a:r>
            <a:r>
              <a:rPr lang="zh-CN" altLang="en-US" sz="1800">
                <a:solidFill>
                  <a:schemeClr val="tx1"/>
                </a:solidFill>
                <a:latin typeface="阿里巴巴普惠体"/>
                <a:ea typeface="字魂58号-创中黑"/>
                <a:cs typeface="+mn-ea"/>
                <a:sym typeface="阿里巴巴普惠体"/>
              </a:rPr>
              <a:t>90° ~ 180°（钝角）：负相似度 → 反向、对立、相反</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负数相似度 = 方向相反 = 对立、矛盾、负相关、反义。不是“不相似”，是反相似。</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cos(180°) = -1：方向完全相反 → 完全对立、完全相反</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cos(120°) = -0.5：方向偏反 → 中度对立</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 cos(90°) = 0：中立、无关</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b="1">
                <a:solidFill>
                  <a:schemeClr val="tx1"/>
                </a:solidFill>
                <a:latin typeface="阿里巴巴普惠体"/>
                <a:ea typeface="字魂58号-创中黑"/>
                <a:cs typeface="+mn-ea"/>
                <a:sym typeface="阿里巴巴普惠体"/>
              </a:rPr>
              <a:t>4. 负值相似度到底是什么意思？</a:t>
            </a:r>
            <a:endParaRPr lang="zh-CN" altLang="en-US" sz="1800" b="1">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正相似度：同向 → 同类、相关、一致</a:t>
            </a:r>
            <a:endParaRPr lang="zh-CN" altLang="en-US" sz="1800">
              <a:solidFill>
                <a:schemeClr val="tx1"/>
              </a:solidFill>
              <a:latin typeface="阿里巴巴普惠体"/>
              <a:ea typeface="字魂58号-创中黑"/>
              <a:cs typeface="+mn-ea"/>
              <a:sym typeface="阿里巴巴普惠体"/>
            </a:endParaRPr>
          </a:p>
          <a:p>
            <a:pPr fontAlgn="base">
              <a:lnSpc>
                <a:spcPct val="150000"/>
              </a:lnSpc>
            </a:pPr>
            <a:r>
              <a:rPr lang="zh-CN" altLang="en-US" sz="1800">
                <a:solidFill>
                  <a:schemeClr val="tx1"/>
                </a:solidFill>
                <a:latin typeface="阿里巴巴普惠体"/>
                <a:ea typeface="字魂58号-创中黑"/>
                <a:cs typeface="+mn-ea"/>
                <a:sym typeface="阿里巴巴普惠体"/>
              </a:rPr>
              <a:t>负相似度：反向 → 异类、相反、矛盾、对立</a:t>
            </a:r>
            <a:endParaRPr lang="zh-CN" altLang="en-US" sz="1800">
              <a:solidFill>
                <a:schemeClr val="tx1"/>
              </a:solidFill>
              <a:latin typeface="阿里巴巴普惠体"/>
              <a:ea typeface="字魂58号-创中黑"/>
              <a:cs typeface="+mn-ea"/>
              <a:sym typeface="阿里巴巴普惠体"/>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06680" y="1713865"/>
            <a:ext cx="6133465" cy="4295140"/>
          </a:xfrm>
          <a:prstGeom prst="rect">
            <a:avLst/>
          </a:prstGeom>
          <a:noFill/>
        </p:spPr>
        <p:txBody>
          <a:bodyPr wrap="square" rtlCol="0">
            <a:spAutoFit/>
          </a:bodyPr>
          <a:lstStyle/>
          <a:p>
            <a:pPr algn="just">
              <a:lnSpc>
                <a:spcPct val="110000"/>
              </a:lnSpc>
              <a:spcBef>
                <a:spcPts val="600"/>
              </a:spcBef>
              <a:spcAft>
                <a:spcPts val="600"/>
              </a:spcAft>
            </a:pPr>
            <a:r>
              <a:rPr lang="en-US" sz="2800" b="1">
                <a:latin typeface="阿里巴巴普惠体"/>
                <a:ea typeface="字魂58号-创中黑"/>
                <a:cs typeface="+mn-ea"/>
                <a:sym typeface="+mn-ea"/>
              </a:rPr>
              <a:t>工作原理</a:t>
            </a:r>
            <a:r>
              <a:rPr lang="zh-CN" altLang="en-US" sz="2800" b="1">
                <a:latin typeface="阿里巴巴普惠体"/>
                <a:ea typeface="字魂58号-创中黑"/>
                <a:cs typeface="+mn-ea"/>
                <a:sym typeface="+mn-ea"/>
              </a:rPr>
              <a:t>步骤</a:t>
            </a:r>
            <a:r>
              <a:rPr lang="en-US" sz="2800" b="1">
                <a:latin typeface="阿里巴巴普惠体"/>
                <a:ea typeface="字魂58号-创中黑"/>
                <a:cs typeface="+mn-ea"/>
                <a:sym typeface="+mn-ea"/>
              </a:rPr>
              <a:t>：</a:t>
            </a:r>
            <a:endParaRPr lang="en-US" sz="2800" b="1">
              <a:latin typeface="阿里巴巴普惠体"/>
              <a:ea typeface="字魂58号-创中黑"/>
              <a:cs typeface="+mn-ea"/>
            </a:endParaRPr>
          </a:p>
          <a:p>
            <a:pPr algn="just">
              <a:lnSpc>
                <a:spcPct val="110000"/>
              </a:lnSpc>
            </a:pPr>
            <a:r>
              <a:rPr lang="en-US" sz="2400">
                <a:latin typeface="阿里巴巴普惠体"/>
                <a:ea typeface="字魂58号-创中黑"/>
                <a:cs typeface="+mn-ea"/>
                <a:sym typeface="+mn-ea"/>
              </a:rPr>
              <a:t>① 首先随机从数据集中选取 K个点，每个点初始地代表每个簇的聚类中心；</a:t>
            </a:r>
            <a:endParaRPr lang="en-US" sz="2400">
              <a:latin typeface="阿里巴巴普惠体"/>
              <a:ea typeface="字魂58号-创中黑"/>
              <a:cs typeface="+mn-ea"/>
            </a:endParaRPr>
          </a:p>
          <a:p>
            <a:pPr algn="just">
              <a:lnSpc>
                <a:spcPct val="110000"/>
              </a:lnSpc>
            </a:pPr>
            <a:r>
              <a:rPr lang="en-US" sz="2400">
                <a:latin typeface="阿里巴巴普惠体"/>
                <a:ea typeface="字魂58号-创中黑"/>
                <a:cs typeface="+mn-ea"/>
                <a:sym typeface="+mn-ea"/>
              </a:rPr>
              <a:t>② 然后计算剩余各个样本到聚类中心的距离，将它赋给最近的簇；</a:t>
            </a:r>
            <a:endParaRPr lang="en-US" sz="2400">
              <a:latin typeface="阿里巴巴普惠体"/>
              <a:ea typeface="字魂58号-创中黑"/>
              <a:cs typeface="+mn-ea"/>
            </a:endParaRPr>
          </a:p>
          <a:p>
            <a:pPr algn="just">
              <a:lnSpc>
                <a:spcPct val="110000"/>
              </a:lnSpc>
            </a:pPr>
            <a:r>
              <a:rPr lang="en-US" sz="2400">
                <a:latin typeface="阿里巴巴普惠体"/>
                <a:ea typeface="字魂58号-创中黑"/>
                <a:cs typeface="+mn-ea"/>
                <a:sym typeface="+mn-ea"/>
              </a:rPr>
              <a:t>③ 接着重新计算每一簇的平均值，作为新的聚类中心；</a:t>
            </a:r>
            <a:endParaRPr lang="en-US" sz="2400">
              <a:latin typeface="阿里巴巴普惠体"/>
              <a:ea typeface="字魂58号-创中黑"/>
              <a:cs typeface="+mn-ea"/>
            </a:endParaRPr>
          </a:p>
          <a:p>
            <a:pPr algn="just">
              <a:lnSpc>
                <a:spcPct val="110000"/>
              </a:lnSpc>
            </a:pPr>
            <a:r>
              <a:rPr lang="en-US" sz="2400">
                <a:latin typeface="阿里巴巴普惠体"/>
                <a:ea typeface="字魂58号-创中黑"/>
                <a:cs typeface="+mn-ea"/>
                <a:sym typeface="+mn-ea"/>
              </a:rPr>
              <a:t>④ 整个过程不断重复，如果相邻两次调整没有明显变化（点的归属或者聚类中心不再改变），说明数据聚类形成的簇已经收敛。</a:t>
            </a:r>
            <a:endParaRPr lang="en-US" sz="2400">
              <a:solidFill>
                <a:schemeClr val="tx1"/>
              </a:solidFill>
              <a:latin typeface="阿里巴巴普惠体"/>
              <a:ea typeface="字魂58号-创中黑"/>
              <a:cs typeface="+mn-ea"/>
              <a:sym typeface="+mn-ea"/>
            </a:endParaRPr>
          </a:p>
        </p:txBody>
      </p:sp>
      <p:sp>
        <p:nvSpPr>
          <p:cNvPr id="3" name="Rectangle 7"/>
          <p:cNvSpPr/>
          <p:nvPr/>
        </p:nvSpPr>
        <p:spPr>
          <a:xfrm>
            <a:off x="3449320" y="350520"/>
            <a:ext cx="5293995" cy="583565"/>
          </a:xfrm>
          <a:prstGeom prst="rect">
            <a:avLst/>
          </a:prstGeom>
        </p:spPr>
        <p:txBody>
          <a:bodyPr wrap="square">
            <a:spAutoFit/>
          </a:bodyPr>
          <a:p>
            <a:pPr algn="ctr"/>
            <a:r>
              <a:rPr lang="zh-CN" altLang="en-US" sz="3200" b="1" dirty="0">
                <a:latin typeface="阿里巴巴普惠体"/>
                <a:ea typeface="字魂58号-创中黑"/>
                <a:cs typeface="+mn-ea"/>
                <a:sym typeface="+mn-ea"/>
              </a:rPr>
              <a:t>K-means算法的原理和步骤</a:t>
            </a:r>
            <a:endParaRPr lang="zh-CN" altLang="en-US" sz="3200" b="1" dirty="0">
              <a:latin typeface="阿里巴巴普惠体"/>
              <a:ea typeface="字魂58号-创中黑"/>
              <a:cs typeface="+mn-ea"/>
              <a:sym typeface="阿里巴巴普惠体"/>
            </a:endParaRPr>
          </a:p>
        </p:txBody>
      </p:sp>
      <p:pic>
        <p:nvPicPr>
          <p:cNvPr id="2" name="图片 1" descr="8d8a70a68b9840f16d7ec508b54db3f1"/>
          <p:cNvPicPr>
            <a:picLocks noChangeAspect="1"/>
          </p:cNvPicPr>
          <p:nvPr/>
        </p:nvPicPr>
        <p:blipFill>
          <a:blip r:embed="rId1"/>
          <a:stretch>
            <a:fillRect/>
          </a:stretch>
        </p:blipFill>
        <p:spPr>
          <a:xfrm>
            <a:off x="6568440" y="866775"/>
            <a:ext cx="4870450" cy="598932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60020" y="1169035"/>
            <a:ext cx="6133465" cy="5384800"/>
          </a:xfrm>
          <a:prstGeom prst="rect">
            <a:avLst/>
          </a:prstGeom>
          <a:noFill/>
        </p:spPr>
        <p:txBody>
          <a:bodyPr wrap="square" rtlCol="0">
            <a:spAutoFit/>
          </a:bodyPr>
          <a:lstStyle/>
          <a:p>
            <a:pPr algn="just"/>
            <a:r>
              <a:rPr lang="zh-CN" sz="2800" b="1">
                <a:latin typeface="阿里巴巴普惠体"/>
                <a:ea typeface="字魂58号-创中黑"/>
                <a:cs typeface="+mn-ea"/>
                <a:sym typeface="+mn-ea"/>
              </a:rPr>
              <a:t>算法特点</a:t>
            </a:r>
            <a:endParaRPr lang="zh-CN" sz="2800" b="1">
              <a:latin typeface="阿里巴巴普惠体"/>
              <a:ea typeface="字魂58号-创中黑"/>
              <a:cs typeface="+mn-ea"/>
              <a:sym typeface="+mn-ea"/>
            </a:endParaRPr>
          </a:p>
          <a:p>
            <a:pPr algn="just"/>
            <a:r>
              <a:rPr lang="en-US" sz="1800">
                <a:latin typeface="阿里巴巴普惠体"/>
                <a:ea typeface="字魂58号-创中黑"/>
                <a:cs typeface="+mn-ea"/>
                <a:sym typeface="+mn-ea"/>
              </a:rPr>
              <a:t>（1）在 K-means 算法中 K 是事先给定的，这个 K 值的选定是非常难以估计的。（对样本的了解）</a:t>
            </a:r>
            <a:endParaRPr lang="en-US" sz="1800">
              <a:latin typeface="阿里巴巴普惠体"/>
              <a:ea typeface="字魂58号-创中黑"/>
              <a:cs typeface="+mn-ea"/>
            </a:endParaRPr>
          </a:p>
          <a:p>
            <a:pPr algn="just"/>
            <a:endParaRPr lang="en-US" sz="1800">
              <a:latin typeface="阿里巴巴普惠体"/>
              <a:ea typeface="字魂58号-创中黑"/>
              <a:cs typeface="+mn-ea"/>
            </a:endParaRPr>
          </a:p>
          <a:p>
            <a:pPr algn="just"/>
            <a:r>
              <a:rPr lang="en-US" sz="1800">
                <a:latin typeface="阿里巴巴普惠体"/>
                <a:ea typeface="字魂58号-创中黑"/>
                <a:cs typeface="+mn-ea"/>
                <a:sym typeface="+mn-ea"/>
              </a:rPr>
              <a:t>（2）在 K-means 算法中，首先需要根据初始聚类中心来确定一个初始划分，然后对初始划分进行优化。</a:t>
            </a:r>
            <a:endParaRPr lang="en-US" sz="1800">
              <a:latin typeface="阿里巴巴普惠体"/>
              <a:ea typeface="字魂58号-创中黑"/>
              <a:cs typeface="+mn-ea"/>
            </a:endParaRPr>
          </a:p>
          <a:p>
            <a:pPr algn="just"/>
            <a:endParaRPr lang="en-US" sz="1800">
              <a:latin typeface="阿里巴巴普惠体"/>
              <a:ea typeface="字魂58号-创中黑"/>
              <a:cs typeface="+mn-ea"/>
            </a:endParaRPr>
          </a:p>
          <a:p>
            <a:pPr algn="just"/>
            <a:r>
              <a:rPr lang="en-US" sz="1800">
                <a:latin typeface="阿里巴巴普惠体"/>
                <a:ea typeface="字魂58号-创中黑"/>
                <a:cs typeface="+mn-ea"/>
                <a:sym typeface="+mn-ea"/>
              </a:rPr>
              <a:t>（3） K-means算法需要不断地进行样本分类调整，不断地计算调整后的新的聚类中心，因此当数据量非常大时，算法的时间开销是非常大的。（但是K-means依然是数据集较大时的优先选择，主要在于其简洁、有效。）</a:t>
            </a:r>
            <a:endParaRPr lang="en-US" sz="1800">
              <a:latin typeface="阿里巴巴普惠体"/>
              <a:ea typeface="字魂58号-创中黑"/>
              <a:cs typeface="+mn-ea"/>
            </a:endParaRPr>
          </a:p>
          <a:p>
            <a:pPr algn="just"/>
            <a:endParaRPr lang="en-US" sz="1800">
              <a:latin typeface="阿里巴巴普惠体"/>
              <a:ea typeface="字魂58号-创中黑"/>
              <a:cs typeface="+mn-ea"/>
            </a:endParaRPr>
          </a:p>
          <a:p>
            <a:pPr algn="just" fontAlgn="auto">
              <a:spcAft>
                <a:spcPts val="1200"/>
              </a:spcAft>
            </a:pPr>
            <a:r>
              <a:rPr lang="en-US" sz="1800">
                <a:latin typeface="阿里巴巴普惠体"/>
                <a:ea typeface="字魂58号-创中黑"/>
                <a:cs typeface="+mn-ea"/>
                <a:sym typeface="+mn-ea"/>
              </a:rPr>
              <a:t>（4）K-means算法对一些离散点和初始K值敏感，不同的距离初始值对同样的数据样本可能得到不同的结果。即K-means的结果是不稳定的，即便在同样的K值情况下，每次聚类的结果因着初始中心选择的不同，出现不同的结果。</a:t>
            </a:r>
            <a:endParaRPr lang="en-US" sz="1800">
              <a:latin typeface="阿里巴巴普惠体"/>
              <a:ea typeface="字魂58号-创中黑"/>
              <a:cs typeface="+mn-ea"/>
            </a:endParaRPr>
          </a:p>
          <a:p>
            <a:pPr algn="just"/>
            <a:r>
              <a:rPr lang="en-US" sz="1800">
                <a:solidFill>
                  <a:srgbClr val="FF0000"/>
                </a:solidFill>
                <a:latin typeface="阿里巴巴普惠体"/>
                <a:ea typeface="字魂58号-创中黑"/>
                <a:cs typeface="+mn-ea"/>
                <a:sym typeface="+mn-ea"/>
              </a:rPr>
              <a:t>（5）K-means无法做到将一个点分到不同的类中，而一个对象存在类别交叉现象，是很常见的。</a:t>
            </a:r>
            <a:endParaRPr lang="en-US" sz="1800">
              <a:solidFill>
                <a:srgbClr val="FF0000"/>
              </a:solidFill>
              <a:latin typeface="阿里巴巴普惠体"/>
              <a:ea typeface="字魂58号-创中黑"/>
              <a:cs typeface="+mn-ea"/>
              <a:sym typeface="+mn-ea"/>
            </a:endParaRPr>
          </a:p>
        </p:txBody>
      </p:sp>
      <p:sp>
        <p:nvSpPr>
          <p:cNvPr id="3" name="Rectangle 7"/>
          <p:cNvSpPr/>
          <p:nvPr/>
        </p:nvSpPr>
        <p:spPr>
          <a:xfrm>
            <a:off x="3449320" y="350520"/>
            <a:ext cx="5293995" cy="583565"/>
          </a:xfrm>
          <a:prstGeom prst="rect">
            <a:avLst/>
          </a:prstGeom>
        </p:spPr>
        <p:txBody>
          <a:bodyPr wrap="square">
            <a:spAutoFit/>
          </a:bodyPr>
          <a:p>
            <a:pPr algn="ctr"/>
            <a:r>
              <a:rPr lang="zh-CN" altLang="en-US" sz="3200" b="1" dirty="0">
                <a:latin typeface="阿里巴巴普惠体"/>
                <a:ea typeface="字魂58号-创中黑"/>
                <a:cs typeface="+mn-ea"/>
                <a:sym typeface="+mn-ea"/>
              </a:rPr>
              <a:t>K-means算法的原理和步骤</a:t>
            </a:r>
            <a:endParaRPr lang="zh-CN" altLang="en-US" sz="3200" b="1" dirty="0">
              <a:latin typeface="阿里巴巴普惠体"/>
              <a:ea typeface="字魂58号-创中黑"/>
              <a:cs typeface="+mn-ea"/>
              <a:sym typeface="阿里巴巴普惠体"/>
            </a:endParaRPr>
          </a:p>
        </p:txBody>
      </p:sp>
      <p:pic>
        <p:nvPicPr>
          <p:cNvPr id="2" name="图片 1" descr="8d8a70a68b9840f16d7ec508b54db3f1"/>
          <p:cNvPicPr>
            <a:picLocks noChangeAspect="1"/>
          </p:cNvPicPr>
          <p:nvPr/>
        </p:nvPicPr>
        <p:blipFill>
          <a:blip r:embed="rId1"/>
          <a:stretch>
            <a:fillRect/>
          </a:stretch>
        </p:blipFill>
        <p:spPr>
          <a:xfrm>
            <a:off x="6568440" y="866775"/>
            <a:ext cx="4870450" cy="5989320"/>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013460" y="1134110"/>
            <a:ext cx="9202420" cy="5723890"/>
          </a:xfrm>
          <a:prstGeom prst="rect">
            <a:avLst/>
          </a:prstGeom>
          <a:noFill/>
        </p:spPr>
        <p:txBody>
          <a:bodyPr wrap="square" rtlCol="0">
            <a:spAutoFit/>
          </a:bodyPr>
          <a:lstStyle/>
          <a:p>
            <a:pPr>
              <a:spcAft>
                <a:spcPts val="600"/>
              </a:spcAft>
            </a:pPr>
            <a:r>
              <a:rPr lang="zh-CN" sz="2800" b="1">
                <a:latin typeface="阿里巴巴普惠体"/>
                <a:ea typeface="字魂58号-创中黑"/>
                <a:cs typeface="+mn-ea"/>
                <a:sym typeface="+mn-ea"/>
              </a:rPr>
              <a:t>工作原理：</a:t>
            </a:r>
            <a:endParaRPr lang="zh-CN" sz="2800" b="1">
              <a:latin typeface="阿里巴巴普惠体"/>
              <a:ea typeface="字魂58号-创中黑"/>
              <a:cs typeface="+mn-ea"/>
            </a:endParaRPr>
          </a:p>
          <a:p>
            <a:pPr algn="l" fontAlgn="base">
              <a:lnSpc>
                <a:spcPct val="150000"/>
              </a:lnSpc>
              <a:buClrTx/>
              <a:buSzTx/>
              <a:buNone/>
            </a:pPr>
            <a:r>
              <a:rPr lang="en-US" sz="2400">
                <a:latin typeface="阿里巴巴普惠体"/>
                <a:ea typeface="字魂58号-创中黑"/>
                <a:cs typeface="+mn-ea"/>
                <a:sym typeface="+mn-ea"/>
              </a:rPr>
              <a:t>层次聚类算法是通过将数据组织为若干组并形成一个相应的树来进行聚类的。根据层次是自底向上还是自顶向下形成，层次聚类可以分为凝聚和分裂两种算法形式。</a:t>
            </a:r>
            <a:br>
              <a:rPr lang="en-US" sz="1800">
                <a:latin typeface="阿里巴巴普惠体"/>
                <a:ea typeface="字魂58号-创中黑"/>
                <a:cs typeface="+mn-ea"/>
                <a:sym typeface="+mn-ea"/>
              </a:rPr>
            </a:br>
            <a:endParaRPr lang="en-US" sz="1800">
              <a:latin typeface="阿里巴巴普惠体"/>
              <a:ea typeface="字魂58号-创中黑"/>
              <a:cs typeface="+mn-ea"/>
              <a:sym typeface="+mn-ea"/>
            </a:endParaRPr>
          </a:p>
          <a:p>
            <a:pPr algn="l" fontAlgn="base">
              <a:lnSpc>
                <a:spcPct val="150000"/>
              </a:lnSpc>
              <a:buClrTx/>
              <a:buSzTx/>
              <a:buNone/>
            </a:pPr>
            <a:r>
              <a:rPr lang="zh-CN" sz="2800" b="1">
                <a:latin typeface="阿里巴巴普惠体"/>
                <a:ea typeface="字魂58号-创中黑"/>
                <a:cs typeface="+mn-ea"/>
                <a:sym typeface="+mn-ea"/>
              </a:rPr>
              <a:t>算法过程：</a:t>
            </a:r>
            <a:endParaRPr lang="zh-CN" sz="2800" b="1">
              <a:latin typeface="阿里巴巴普惠体"/>
              <a:ea typeface="字魂58号-创中黑"/>
              <a:cs typeface="+mn-ea"/>
              <a:sym typeface="+mn-ea"/>
            </a:endParaRPr>
          </a:p>
          <a:p>
            <a:pPr algn="just"/>
            <a:r>
              <a:rPr lang="en-US" sz="2400">
                <a:latin typeface="阿里巴巴普惠体"/>
                <a:ea typeface="字魂58号-创中黑"/>
                <a:cs typeface="+mn-ea"/>
                <a:sym typeface="+mn-ea"/>
              </a:rPr>
              <a:t>（1）将D中每个样本点当作其类簇；</a:t>
            </a:r>
            <a:endParaRPr lang="en-US" sz="2400">
              <a:latin typeface="阿里巴巴普惠体"/>
              <a:ea typeface="字魂58号-创中黑"/>
              <a:cs typeface="+mn-ea"/>
            </a:endParaRPr>
          </a:p>
          <a:p>
            <a:pPr algn="just"/>
            <a:r>
              <a:rPr lang="en-US" sz="2400">
                <a:latin typeface="阿里巴巴普惠体"/>
                <a:ea typeface="字魂58号-创中黑"/>
                <a:cs typeface="+mn-ea"/>
                <a:sym typeface="+mn-ea"/>
              </a:rPr>
              <a:t>（2）循环</a:t>
            </a:r>
            <a:endParaRPr lang="en-US" sz="2400">
              <a:latin typeface="阿里巴巴普惠体"/>
              <a:ea typeface="字魂58号-创中黑"/>
              <a:cs typeface="+mn-ea"/>
            </a:endParaRPr>
          </a:p>
          <a:p>
            <a:pPr algn="just"/>
            <a:r>
              <a:rPr lang="en-US" sz="2400">
                <a:latin typeface="阿里巴巴普惠体"/>
                <a:ea typeface="字魂58号-创中黑"/>
                <a:cs typeface="+mn-ea"/>
                <a:sym typeface="+mn-ea"/>
              </a:rPr>
              <a:t>（3）找到分属两个不同类簇，且距离最近的样本点对；</a:t>
            </a:r>
            <a:endParaRPr lang="en-US" sz="2400">
              <a:latin typeface="阿里巴巴普惠体"/>
              <a:ea typeface="字魂58号-创中黑"/>
              <a:cs typeface="+mn-ea"/>
            </a:endParaRPr>
          </a:p>
          <a:p>
            <a:pPr algn="just"/>
            <a:r>
              <a:rPr lang="en-US" sz="2400">
                <a:latin typeface="阿里巴巴普惠体"/>
                <a:ea typeface="字魂58号-创中黑"/>
                <a:cs typeface="+mn-ea"/>
                <a:sym typeface="+mn-ea"/>
              </a:rPr>
              <a:t>（4）将两个类簇合并；</a:t>
            </a:r>
            <a:endParaRPr lang="en-US" sz="2400">
              <a:latin typeface="阿里巴巴普惠体"/>
              <a:ea typeface="字魂58号-创中黑"/>
              <a:cs typeface="+mn-ea"/>
            </a:endParaRPr>
          </a:p>
          <a:p>
            <a:pPr algn="just"/>
            <a:r>
              <a:rPr lang="en-US" sz="2400">
                <a:latin typeface="阿里巴巴普惠体"/>
                <a:ea typeface="字魂58号-创中黑"/>
                <a:cs typeface="+mn-ea"/>
                <a:sym typeface="+mn-ea"/>
              </a:rPr>
              <a:t>（5）直到类簇数=K。</a:t>
            </a:r>
            <a:endParaRPr lang="en-US" sz="2400">
              <a:latin typeface="阿里巴巴普惠体"/>
              <a:ea typeface="字魂58号-创中黑"/>
              <a:cs typeface="+mn-ea"/>
            </a:endParaRPr>
          </a:p>
          <a:p>
            <a:pPr algn="l" fontAlgn="base">
              <a:lnSpc>
                <a:spcPct val="150000"/>
              </a:lnSpc>
              <a:buClrTx/>
              <a:buSzTx/>
              <a:buNone/>
            </a:pPr>
            <a:endParaRPr lang="en-US" altLang="en-US" sz="2400">
              <a:latin typeface="阿里巴巴普惠体"/>
              <a:ea typeface="字魂58号-创中黑"/>
              <a:cs typeface="+mn-ea"/>
              <a:sym typeface="+mn-ea"/>
            </a:endParaRPr>
          </a:p>
        </p:txBody>
      </p:sp>
      <p:sp>
        <p:nvSpPr>
          <p:cNvPr id="3" name="Rectangle 7"/>
          <p:cNvSpPr/>
          <p:nvPr/>
        </p:nvSpPr>
        <p:spPr>
          <a:xfrm>
            <a:off x="3449320" y="350520"/>
            <a:ext cx="5293995" cy="583565"/>
          </a:xfrm>
          <a:prstGeom prst="rect">
            <a:avLst/>
          </a:prstGeom>
        </p:spPr>
        <p:txBody>
          <a:bodyPr wrap="square">
            <a:spAutoFit/>
          </a:bodyPr>
          <a:p>
            <a:pPr algn="ctr"/>
            <a:r>
              <a:rPr lang="zh-CN" altLang="en-US" sz="3200" b="1" dirty="0">
                <a:latin typeface="阿里巴巴普惠体"/>
                <a:ea typeface="字魂58号-创中黑"/>
                <a:cs typeface="+mn-ea"/>
                <a:sym typeface="+mn-ea"/>
              </a:rPr>
              <a:t>HC算法的过程</a:t>
            </a:r>
            <a:endParaRPr lang="zh-CN" altLang="en-US" sz="3200" b="1" dirty="0">
              <a:latin typeface="阿里巴巴普惠体"/>
              <a:ea typeface="字魂58号-创中黑"/>
              <a:cs typeface="+mn-ea"/>
              <a:sym typeface="阿里巴巴普惠体"/>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054725" y="1656080"/>
            <a:ext cx="5403215" cy="4052570"/>
            <a:chOff x="752883" y="2086708"/>
            <a:chExt cx="5403033" cy="4052275"/>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2883" y="2086708"/>
              <a:ext cx="5403033" cy="4052275"/>
            </a:xfrm>
            <a:prstGeom prst="rect">
              <a:avLst/>
            </a:prstGeom>
          </p:spPr>
        </p:pic>
        <p:cxnSp>
          <p:nvCxnSpPr>
            <p:cNvPr id="7" name="直接连接符 6"/>
            <p:cNvCxnSpPr/>
            <p:nvPr/>
          </p:nvCxnSpPr>
          <p:spPr>
            <a:xfrm>
              <a:off x="1453662" y="3321538"/>
              <a:ext cx="4446953" cy="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559435" y="2045970"/>
            <a:ext cx="4896485" cy="3692525"/>
          </a:xfrm>
          <a:prstGeom prst="rect">
            <a:avLst/>
          </a:prstGeom>
          <a:noFill/>
        </p:spPr>
        <p:txBody>
          <a:bodyPr wrap="square" rtlCol="0">
            <a:spAutoFit/>
          </a:bodyPr>
          <a:lstStyle/>
          <a:p>
            <a:pPr>
              <a:spcAft>
                <a:spcPts val="600"/>
              </a:spcAft>
            </a:pPr>
            <a:r>
              <a:rPr lang="zh-CN" sz="2800">
                <a:latin typeface="阿里巴巴普惠体"/>
                <a:ea typeface="字魂58号-创中黑"/>
                <a:cs typeface="+mn-ea"/>
                <a:sym typeface="+mn-ea"/>
              </a:rPr>
              <a:t>这个图怎么看，关键就是怎么通过这个图确定类别，就是我在左图中添加的红色线，当这个线从上往下平移，它与多少垂直线相交，就分成了几个类。</a:t>
            </a:r>
            <a:endParaRPr lang="zh-CN" sz="2800">
              <a:latin typeface="阿里巴巴普惠体"/>
              <a:ea typeface="字魂58号-创中黑"/>
              <a:cs typeface="+mn-ea"/>
              <a:sym typeface="+mn-ea"/>
            </a:endParaRPr>
          </a:p>
          <a:p>
            <a:pPr>
              <a:spcAft>
                <a:spcPts val="600"/>
              </a:spcAft>
            </a:pPr>
            <a:endParaRPr lang="zh-CN" sz="2800">
              <a:latin typeface="阿里巴巴普惠体"/>
              <a:ea typeface="字魂58号-创中黑"/>
              <a:cs typeface="+mn-ea"/>
              <a:sym typeface="+mn-ea"/>
            </a:endParaRPr>
          </a:p>
          <a:p>
            <a:pPr>
              <a:spcAft>
                <a:spcPts val="600"/>
              </a:spcAft>
            </a:pPr>
            <a:r>
              <a:rPr lang="zh-CN" sz="2800">
                <a:latin typeface="阿里巴巴普惠体"/>
                <a:ea typeface="字魂58号-创中黑"/>
                <a:cs typeface="+mn-ea"/>
                <a:sym typeface="+mn-ea"/>
              </a:rPr>
              <a:t>右图红虚线聚为三类，黑线聚为五类。</a:t>
            </a:r>
            <a:endParaRPr lang="zh-CN" sz="2800">
              <a:latin typeface="阿里巴巴普惠体"/>
              <a:ea typeface="字魂58号-创中黑"/>
              <a:cs typeface="+mn-ea"/>
              <a:sym typeface="+mn-ea"/>
            </a:endParaRPr>
          </a:p>
        </p:txBody>
      </p:sp>
      <p:sp>
        <p:nvSpPr>
          <p:cNvPr id="3" name="Rectangle 7"/>
          <p:cNvSpPr/>
          <p:nvPr/>
        </p:nvSpPr>
        <p:spPr>
          <a:xfrm>
            <a:off x="3449320" y="350520"/>
            <a:ext cx="5293995" cy="583565"/>
          </a:xfrm>
          <a:prstGeom prst="rect">
            <a:avLst/>
          </a:prstGeom>
        </p:spPr>
        <p:txBody>
          <a:bodyPr wrap="square">
            <a:spAutoFit/>
          </a:bodyPr>
          <a:p>
            <a:pPr algn="ctr"/>
            <a:r>
              <a:rPr lang="zh-CN" altLang="en-US" sz="3200" b="1" dirty="0">
                <a:latin typeface="阿里巴巴普惠体"/>
                <a:ea typeface="字魂58号-创中黑"/>
                <a:cs typeface="+mn-ea"/>
                <a:sym typeface="+mn-ea"/>
              </a:rPr>
              <a:t>HC算法聚类读图</a:t>
            </a:r>
            <a:endParaRPr lang="zh-CN" altLang="en-US" sz="3200" b="1" dirty="0">
              <a:latin typeface="阿里巴巴普惠体"/>
              <a:ea typeface="字魂58号-创中黑"/>
              <a:cs typeface="+mn-ea"/>
              <a:sym typeface="阿里巴巴普惠体"/>
            </a:endParaRPr>
          </a:p>
        </p:txBody>
      </p:sp>
      <p:sp>
        <p:nvSpPr>
          <p:cNvPr id="5" name="TextBox 9"/>
          <p:cNvSpPr txBox="1"/>
          <p:nvPr/>
        </p:nvSpPr>
        <p:spPr>
          <a:xfrm>
            <a:off x="10824845" y="3891915"/>
            <a:ext cx="1225550" cy="398780"/>
          </a:xfrm>
          <a:prstGeom prst="rect">
            <a:avLst/>
          </a:prstGeom>
          <a:noFill/>
        </p:spPr>
        <p:txBody>
          <a:bodyPr wrap="square" rtlCol="0">
            <a:spAutoFit/>
          </a:bodyPr>
          <a:p>
            <a:pPr>
              <a:spcAft>
                <a:spcPts val="600"/>
              </a:spcAft>
            </a:pPr>
            <a:r>
              <a:rPr lang="zh-CN" sz="2000">
                <a:solidFill>
                  <a:srgbClr val="FF0000"/>
                </a:solidFill>
                <a:latin typeface="阿里巴巴普惠体"/>
                <a:ea typeface="字魂58号-创中黑"/>
                <a:cs typeface="+mn-ea"/>
                <a:sym typeface="+mn-ea"/>
              </a:rPr>
              <a:t>聚为五类</a:t>
            </a:r>
            <a:endParaRPr lang="zh-CN" sz="2000">
              <a:solidFill>
                <a:srgbClr val="FF0000"/>
              </a:solidFill>
              <a:latin typeface="阿里巴巴普惠体"/>
              <a:ea typeface="字魂58号-创中黑"/>
              <a:cs typeface="+mn-ea"/>
              <a:sym typeface="+mn-ea"/>
            </a:endParaRPr>
          </a:p>
        </p:txBody>
      </p:sp>
      <p:cxnSp>
        <p:nvCxnSpPr>
          <p:cNvPr id="8" name="直接连接符 7"/>
          <p:cNvCxnSpPr/>
          <p:nvPr/>
        </p:nvCxnSpPr>
        <p:spPr>
          <a:xfrm>
            <a:off x="6780530" y="3891915"/>
            <a:ext cx="439737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981710"/>
            <a:ext cx="12192000" cy="56476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lang="tr-TR" sz="900">
              <a:latin typeface="阿里巴巴普惠体"/>
              <a:ea typeface="字魂58号-创中黑"/>
              <a:cs typeface="+mn-ea"/>
              <a:sym typeface="阿里巴巴普惠体"/>
            </a:endParaRPr>
          </a:p>
        </p:txBody>
      </p:sp>
      <p:sp>
        <p:nvSpPr>
          <p:cNvPr id="7" name="Rectangle 6"/>
          <p:cNvSpPr/>
          <p:nvPr/>
        </p:nvSpPr>
        <p:spPr>
          <a:xfrm>
            <a:off x="800100" y="1059180"/>
            <a:ext cx="9961880" cy="5492750"/>
          </a:xfrm>
          <a:prstGeom prst="rect">
            <a:avLst/>
          </a:prstGeom>
        </p:spPr>
        <p:txBody>
          <a:bodyPr wrap="square">
            <a:spAutoFit/>
          </a:bodyPr>
          <a:lstStyle/>
          <a:p>
            <a:pPr>
              <a:lnSpc>
                <a:spcPct val="150000"/>
              </a:lnSpc>
            </a:pPr>
            <a:r>
              <a:rPr lang="en-US" altLang="zh-CN">
                <a:solidFill>
                  <a:schemeClr val="bg2">
                    <a:lumMod val="25000"/>
                  </a:schemeClr>
                </a:solidFill>
                <a:latin typeface="宋体" panose="02010600030101010101" pitchFamily="2" charset="-122"/>
                <a:ea typeface="宋体" panose="02010600030101010101" pitchFamily="2" charset="-122"/>
                <a:cs typeface="+mn-ea"/>
                <a:sym typeface="阿里巴巴普惠体"/>
              </a:rPr>
              <a:t>  </a:t>
            </a:r>
            <a:r>
              <a:rPr lang="en-US" altLang="zh-CN">
                <a:solidFill>
                  <a:schemeClr val="bg2">
                    <a:lumMod val="25000"/>
                  </a:schemeClr>
                </a:solidFill>
                <a:latin typeface="黑体" panose="02010609060101010101" charset="-122"/>
                <a:ea typeface="黑体" panose="02010609060101010101" charset="-122"/>
                <a:cs typeface="黑体" panose="02010609060101010101" charset="-122"/>
                <a:sym typeface="阿里巴巴普惠体"/>
              </a:rPr>
              <a:t>  </a:t>
            </a:r>
            <a:r>
              <a:rPr lang="zh-CN" altLang="en-US">
                <a:solidFill>
                  <a:schemeClr val="bg2">
                    <a:lumMod val="25000"/>
                  </a:schemeClr>
                </a:solidFill>
                <a:latin typeface="黑体" panose="02010609060101010101" charset="-122"/>
                <a:ea typeface="黑体" panose="02010609060101010101" charset="-122"/>
                <a:cs typeface="黑体" panose="02010609060101010101" charset="-122"/>
                <a:sym typeface="阿里巴巴普惠体"/>
              </a:rPr>
              <a:t>本章</a:t>
            </a:r>
            <a:r>
              <a:rPr lang="en-US" altLang="tr-TR">
                <a:solidFill>
                  <a:schemeClr val="bg2">
                    <a:lumMod val="25000"/>
                  </a:schemeClr>
                </a:solidFill>
                <a:latin typeface="黑体" panose="02010609060101010101" charset="-122"/>
                <a:ea typeface="黑体" panose="02010609060101010101" charset="-122"/>
                <a:cs typeface="黑体" panose="02010609060101010101" charset="-122"/>
                <a:sym typeface="阿里巴巴普惠体"/>
              </a:rPr>
              <a:t>聚焦 k 均值聚类这一核心无监督学习算法，以数据科学研究的 4 大主要步骤为轴心，讲解该算法在各环节的适配方法、实操要点与分组逻辑，明晰</a:t>
            </a:r>
            <a:r>
              <a:rPr lang="zh-CN" altLang="en-US">
                <a:solidFill>
                  <a:schemeClr val="bg2">
                    <a:lumMod val="25000"/>
                  </a:schemeClr>
                </a:solidFill>
                <a:latin typeface="黑体" panose="02010609060101010101" charset="-122"/>
                <a:ea typeface="黑体" panose="02010609060101010101" charset="-122"/>
                <a:cs typeface="黑体" panose="02010609060101010101" charset="-122"/>
                <a:sym typeface="阿里巴巴普惠体"/>
              </a:rPr>
              <a:t>无监督聚类发现数据隐藏模式的完整流程。</a:t>
            </a:r>
            <a:endParaRPr lang="zh-CN" altLang="en-US">
              <a:solidFill>
                <a:schemeClr val="bg2">
                  <a:lumMod val="25000"/>
                </a:schemeClr>
              </a:solidFill>
              <a:latin typeface="黑体" panose="02010609060101010101" charset="-122"/>
              <a:ea typeface="黑体" panose="02010609060101010101" charset="-122"/>
              <a:cs typeface="黑体" panose="02010609060101010101" charset="-122"/>
              <a:sym typeface="阿里巴巴普惠体"/>
            </a:endParaRPr>
          </a:p>
          <a:p>
            <a:pPr>
              <a:lnSpc>
                <a:spcPct val="150000"/>
              </a:lnSpc>
            </a:pPr>
            <a:r>
              <a:rPr lang="zh-CN" altLang="en-US">
                <a:solidFill>
                  <a:schemeClr val="bg2">
                    <a:lumMod val="25000"/>
                  </a:schemeClr>
                </a:solidFill>
                <a:latin typeface="黑体" panose="02010609060101010101" charset="-122"/>
                <a:ea typeface="黑体" panose="02010609060101010101" charset="-122"/>
                <a:cs typeface="黑体" panose="02010609060101010101" charset="-122"/>
                <a:sym typeface="阿里巴巴普惠体"/>
              </a:rPr>
              <a:t>    准备数据，需选取可量化的连续型特征、处理缺失数据，开展特征探索与相关性分析，为聚类分组奠定数据基础，属于数据准备、数据探索阶段；选择算法建立模型，明确 k 均值聚类的任务目标为按特征相似度将数据点划入不同群组，以影迷性格特征聚类为例，阐释 “按距离分组” 的核心原理，完成无监督模型构建；参数调优，核心是通过陡坡图确定最佳群组数 k，平衡群组内相似度与群组间区分度，避免过细分组无意义、过粗分组区分不足，属于模型评估阶段；评价模型，通过群组内散度、群组成员一致性验证聚类效果，判断分组是否具备实际意义，也属于模型评估阶段。</a:t>
            </a:r>
            <a:endParaRPr lang="zh-CN" altLang="en-US">
              <a:solidFill>
                <a:schemeClr val="bg2">
                  <a:lumMod val="25000"/>
                </a:schemeClr>
              </a:solidFill>
              <a:latin typeface="黑体" panose="02010609060101010101" charset="-122"/>
              <a:ea typeface="黑体" panose="02010609060101010101" charset="-122"/>
              <a:cs typeface="黑体" panose="02010609060101010101" charset="-122"/>
              <a:sym typeface="阿里巴巴普惠体"/>
            </a:endParaRPr>
          </a:p>
          <a:p>
            <a:pPr>
              <a:lnSpc>
                <a:spcPct val="150000"/>
              </a:lnSpc>
            </a:pPr>
            <a:r>
              <a:rPr lang="zh-CN" altLang="en-US">
                <a:solidFill>
                  <a:schemeClr val="bg2">
                    <a:lumMod val="25000"/>
                  </a:schemeClr>
                </a:solidFill>
                <a:latin typeface="黑体" panose="02010609060101010101" charset="-122"/>
                <a:ea typeface="黑体" panose="02010609060101010101" charset="-122"/>
                <a:cs typeface="黑体" panose="02010609060101010101" charset="-122"/>
                <a:sym typeface="阿里巴巴普惠体"/>
              </a:rPr>
              <a:t>    总体而言，第二章针对 k 均值聚类算法，就数据挖掘的六阶段而言，淡化了场景化目标挖掘与最终部署环节，着重于无监督场景下的数据处理、自动分组、参数确定与效果验证，讲解 “相似度聚类” 的底层逻辑，为后续无监督学习算法的学习筑牢基础。</a:t>
            </a:r>
            <a:r>
              <a:rPr lang="zh-CN" altLang="en-US">
                <a:solidFill>
                  <a:schemeClr val="bg2">
                    <a:lumMod val="25000"/>
                  </a:schemeClr>
                </a:solidFill>
                <a:latin typeface="宋体" panose="02010600030101010101" pitchFamily="2" charset="-122"/>
                <a:ea typeface="宋体" panose="02010600030101010101" pitchFamily="2" charset="-122"/>
                <a:cs typeface="+mn-ea"/>
                <a:sym typeface="阿里巴巴普惠体"/>
              </a:rPr>
              <a:t> </a:t>
            </a:r>
            <a:endParaRPr lang="zh-CN" altLang="en-US">
              <a:solidFill>
                <a:schemeClr val="bg2">
                  <a:lumMod val="25000"/>
                </a:schemeClr>
              </a:solidFill>
              <a:latin typeface="宋体" panose="02010600030101010101" pitchFamily="2" charset="-122"/>
              <a:ea typeface="宋体" panose="02010600030101010101" pitchFamily="2" charset="-122"/>
              <a:cs typeface="+mn-ea"/>
              <a:sym typeface="阿里巴巴普惠体"/>
            </a:endParaRPr>
          </a:p>
        </p:txBody>
      </p:sp>
      <p:sp>
        <p:nvSpPr>
          <p:cNvPr id="23" name="Rectangle 7"/>
          <p:cNvSpPr/>
          <p:nvPr/>
        </p:nvSpPr>
        <p:spPr>
          <a:xfrm>
            <a:off x="3395980" y="278765"/>
            <a:ext cx="5400675" cy="583565"/>
          </a:xfrm>
          <a:prstGeom prst="rect">
            <a:avLst/>
          </a:prstGeom>
        </p:spPr>
        <p:txBody>
          <a:bodyPr wrap="square">
            <a:spAutoFit/>
          </a:bodyPr>
          <a:lstStyle/>
          <a:p>
            <a:pPr algn="ctr"/>
            <a:r>
              <a:rPr lang="zh-CN" altLang="en-US" sz="3200" b="1" dirty="0">
                <a:latin typeface="阿里巴巴普惠体"/>
                <a:ea typeface="字魂58号-创中黑"/>
                <a:cs typeface="+mn-ea"/>
                <a:sym typeface="阿里巴巴普惠体"/>
              </a:rPr>
              <a:t>《白话机器学习》读书笔记</a:t>
            </a:r>
            <a:endParaRPr lang="zh-CN" altLang="en-US" sz="3200" b="1" dirty="0">
              <a:latin typeface="阿里巴巴普惠体"/>
              <a:ea typeface="字魂58号-创中黑"/>
              <a:cs typeface="+mn-ea"/>
              <a:sym typeface="阿里巴巴普惠体"/>
            </a:endParaRPr>
          </a:p>
        </p:txBody>
      </p:sp>
    </p:spTree>
  </p:cSld>
  <p:clrMapOvr>
    <a:masterClrMapping/>
  </p:clrMapOvr>
  <p:transition/>
</p:sld>
</file>

<file path=ppt/tags/tag1.xml><?xml version="1.0" encoding="utf-8"?>
<p:tagLst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KSO_WPP_MARK_KEY" val="0e5f9e42-42cc-460d-9ddc-81bc94931e52"/>
</p:tagLst>
</file>

<file path=ppt/theme/theme1.xml><?xml version="1.0" encoding="utf-8"?>
<a:theme xmlns:a="http://schemas.openxmlformats.org/drawingml/2006/main" name="第一PPT，www.1ppt.com">
  <a:themeElements>
    <a:clrScheme name="灰度">
      <a:dk1>
        <a:srgbClr val="000000"/>
      </a:dk1>
      <a:lt1>
        <a:srgbClr val="FFFFFF"/>
      </a:lt1>
      <a:dk2>
        <a:srgbClr val="768395"/>
      </a:dk2>
      <a:lt2>
        <a:srgbClr val="F0F0F0"/>
      </a:lt2>
      <a:accent1>
        <a:srgbClr val="3E3E3E"/>
      </a:accent1>
      <a:accent2>
        <a:srgbClr val="4D4D4D"/>
      </a:accent2>
      <a:accent3>
        <a:srgbClr val="717171"/>
      </a:accent3>
      <a:accent4>
        <a:srgbClr val="919191"/>
      </a:accent4>
      <a:accent5>
        <a:srgbClr val="A5A5A5"/>
      </a:accent5>
      <a:accent6>
        <a:srgbClr val="D7D7D7"/>
      </a:accent6>
      <a:hlink>
        <a:srgbClr val="3E3E3E"/>
      </a:hlink>
      <a:folHlink>
        <a:srgbClr val="BFBFBF"/>
      </a:folHlink>
    </a:clrScheme>
    <a:fontScheme name="acei4vif">
      <a:majorFont>
        <a:latin typeface="AvantGarde Bk BT"/>
        <a:ea typeface="YouYuan"/>
        <a:cs typeface="Arial"/>
      </a:majorFont>
      <a:minorFont>
        <a:latin typeface="AvantGarde Bk BT"/>
        <a:ea typeface="YouYuan"/>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灰度">
      <a:dk1>
        <a:srgbClr val="000000"/>
      </a:dk1>
      <a:lt1>
        <a:srgbClr val="FFFFFF"/>
      </a:lt1>
      <a:dk2>
        <a:srgbClr val="768395"/>
      </a:dk2>
      <a:lt2>
        <a:srgbClr val="F0F0F0"/>
      </a:lt2>
      <a:accent1>
        <a:srgbClr val="3E3E3E"/>
      </a:accent1>
      <a:accent2>
        <a:srgbClr val="4D4D4D"/>
      </a:accent2>
      <a:accent3>
        <a:srgbClr val="717171"/>
      </a:accent3>
      <a:accent4>
        <a:srgbClr val="919191"/>
      </a:accent4>
      <a:accent5>
        <a:srgbClr val="A5A5A5"/>
      </a:accent5>
      <a:accent6>
        <a:srgbClr val="D7D7D7"/>
      </a:accent6>
      <a:hlink>
        <a:srgbClr val="3E3E3E"/>
      </a:hlink>
      <a:folHlink>
        <a:srgbClr val="BFBFBF"/>
      </a:folHlink>
    </a:clrScheme>
    <a:fontScheme name="acei4vif">
      <a:majorFont>
        <a:latin typeface="AvantGarde Bk BT"/>
        <a:ea typeface="YouYuan"/>
        <a:cs typeface="Arial"/>
      </a:majorFont>
      <a:minorFont>
        <a:latin typeface="AvantGarde Bk BT"/>
        <a:ea typeface="YouYuan"/>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0</TotalTime>
  <Words>2238</Words>
  <Application>WPS 演示</Application>
  <PresentationFormat>自定义</PresentationFormat>
  <Paragraphs>112</Paragraphs>
  <Slides>10</Slides>
  <Notes>20</Notes>
  <HiddenSlides>0</HiddenSlides>
  <MMClips>0</MMClips>
  <ScaleCrop>false</ScaleCrop>
  <HeadingPairs>
    <vt:vector size="8" baseType="variant">
      <vt:variant>
        <vt:lpstr>已用的字体</vt:lpstr>
      </vt:variant>
      <vt:variant>
        <vt:i4>21</vt:i4>
      </vt:variant>
      <vt:variant>
        <vt:lpstr>主题</vt:lpstr>
      </vt:variant>
      <vt:variant>
        <vt:i4>3</vt:i4>
      </vt:variant>
      <vt:variant>
        <vt:lpstr>嵌入 OLE 服务器</vt:lpstr>
      </vt:variant>
      <vt:variant>
        <vt:i4>1</vt:i4>
      </vt:variant>
      <vt:variant>
        <vt:lpstr>幻灯片标题</vt:lpstr>
      </vt:variant>
      <vt:variant>
        <vt:i4>10</vt:i4>
      </vt:variant>
    </vt:vector>
  </HeadingPairs>
  <TitlesOfParts>
    <vt:vector size="35" baseType="lpstr">
      <vt:lpstr>Arial</vt:lpstr>
      <vt:lpstr>宋体</vt:lpstr>
      <vt:lpstr>Wingdings</vt:lpstr>
      <vt:lpstr>微软雅黑</vt:lpstr>
      <vt:lpstr>Wingdings</vt:lpstr>
      <vt:lpstr>Arial</vt:lpstr>
      <vt:lpstr>AvantGarde Bk BT</vt:lpstr>
      <vt:lpstr>Open Sans Condensed Light</vt:lpstr>
      <vt:lpstr>字魂58号-创中黑</vt:lpstr>
      <vt:lpstr>黑体</vt:lpstr>
      <vt:lpstr>阿里巴巴普惠体</vt:lpstr>
      <vt:lpstr>阿里巴巴普惠体 M</vt:lpstr>
      <vt:lpstr>字魂58号-创中黑</vt:lpstr>
      <vt:lpstr>Yu Gothic UI Semilight</vt:lpstr>
      <vt:lpstr>幼圆</vt:lpstr>
      <vt:lpstr>Arial Unicode MS</vt:lpstr>
      <vt:lpstr>Yu Gothic UI Light</vt:lpstr>
      <vt:lpstr>Times New Roman</vt:lpstr>
      <vt:lpstr>Calibri</vt:lpstr>
      <vt:lpstr>华文中宋</vt:lpstr>
      <vt:lpstr>等线</vt:lpstr>
      <vt:lpstr>第一PPT，www.1ppt.com</vt:lpstr>
      <vt:lpstr>第一PPT，www.1ppt.com     </vt:lpstr>
      <vt:lpstr>第一PPT，www.1ppt.com </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极简商务</dc:title>
  <dc:creator>第一PPT</dc:creator>
  <cp:keywords>www.1ppt.com</cp:keywords>
  <dc:description>www.1ppt.com</dc:description>
  <cp:lastModifiedBy>Lucky-S</cp:lastModifiedBy>
  <cp:revision>19</cp:revision>
  <dcterms:created xsi:type="dcterms:W3CDTF">2019-03-26T04:26:00Z</dcterms:created>
  <dcterms:modified xsi:type="dcterms:W3CDTF">2026-05-28T09:02:26Z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D653B2D4BEF9465681F3BC65DFD2F0DF_11</vt:lpwstr>
  </property>
  <property fmtid="{D5CDD505-2E9C-101B-9397-08002B2CF9AE}" pid="3" name="KSOProductBuildVer">
    <vt:lpwstr>2052-11.1.0.10009</vt:lpwstr>
  </property>
  <property fmtid="{D5CDD505-2E9C-101B-9397-08002B2CF9AE}" pid="4" name="KSOTemplateUUID">
    <vt:lpwstr>v1.0_mb_Y0R1UnCSmrbzT+SbqrpIkA==</vt:lpwstr>
  </property>
</Properties>
</file>