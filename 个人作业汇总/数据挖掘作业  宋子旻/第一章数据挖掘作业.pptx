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75" r:id="rId5"/>
    <p:sldId id="270" r:id="rId6"/>
    <p:sldId id="273" r:id="rId7"/>
    <p:sldId id="274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"/>
          <p:cNvSpPr txBox="1"/>
          <p:nvPr userDrawn="1"/>
        </p:nvSpPr>
        <p:spPr>
          <a:xfrm>
            <a:off x="-132080" y="6419215"/>
            <a:ext cx="8289290" cy="25082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algn="ctr" defTabSz="0">
              <a:lnSpc>
                <a:spcPts val="1600"/>
              </a:lnSpc>
              <a:tabLst>
                <a:tab pos="1549400" algn="l"/>
              </a:tabLst>
            </a:pPr>
            <a:r>
              <a:rPr lang="zh-CN" sz="1400" b="1" dirty="0" smtClean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数据挖掘作业                                    </a:t>
            </a:r>
            <a:r>
              <a:rPr lang="zh-CN" sz="1400" dirty="0" smtClean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宋子旻     信管</a:t>
            </a:r>
            <a:r>
              <a:rPr lang="en-US" altLang="zh-CN" sz="1400" dirty="0" smtClean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2302</a:t>
            </a:r>
            <a:endParaRPr lang="en-US" altLang="zh-CN" sz="1400" dirty="0" smtClean="0">
              <a:solidFill>
                <a:schemeClr val="bg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 userDrawn="1"/>
        </p:nvSpPr>
        <p:spPr>
          <a:xfrm flipV="1">
            <a:off x="0" y="994805"/>
            <a:ext cx="7232400" cy="7094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cap="none" spc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4" name="矩形 13"/>
          <p:cNvSpPr/>
          <p:nvPr userDrawn="1"/>
        </p:nvSpPr>
        <p:spPr>
          <a:xfrm flipV="1">
            <a:off x="0" y="6285406"/>
            <a:ext cx="12186000" cy="1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cap="none" spc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5" name="TextBox 1"/>
          <p:cNvSpPr txBox="1"/>
          <p:nvPr userDrawn="1"/>
        </p:nvSpPr>
        <p:spPr>
          <a:xfrm>
            <a:off x="8628609" y="6413236"/>
            <a:ext cx="3909754" cy="256480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algn="ctr" defTabSz="0">
              <a:lnSpc>
                <a:spcPts val="1600"/>
              </a:lnSpc>
              <a:tabLst>
                <a:tab pos="1549400" algn="l"/>
              </a:tabLst>
            </a:pPr>
            <a:fld id="{1D8BD707-D9CF-40AE-B4C6-C98DA3205C09}" type="datetimeFigureOut">
              <a:rPr lang="en-US" altLang="zh-CN" sz="1400" smtClean="0">
                <a:solidFill>
                  <a:schemeClr val="bg1">
                    <a:lumMod val="50000"/>
                  </a:schemeClr>
                </a:solidFill>
              </a:rPr>
            </a:fld>
            <a:endParaRPr lang="en-US" altLang="zh-CN" sz="1400" b="1" dirty="0" smtClean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7220" y="233680"/>
            <a:ext cx="5217795" cy="83248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705485" y="1341120"/>
            <a:ext cx="10515600" cy="4351338"/>
          </a:xfrm>
        </p:spPr>
        <p:txBody>
          <a:bodyPr/>
          <a:lstStyle/>
          <a:p>
            <a:pPr lvl="0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数据挖掘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0" y="3699510"/>
            <a:ext cx="12192000" cy="3246120"/>
          </a:xfrm>
        </p:spPr>
        <p:txBody>
          <a:bodyPr>
            <a:normAutofit/>
          </a:bodyPr>
          <a:p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</a:rPr>
              <a:t>第一章作业</a:t>
            </a:r>
            <a:endParaRPr lang="zh-CN" altLang="en-US" sz="32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 sz="1800"/>
              <a:t>宋子旻   信管</a:t>
            </a:r>
            <a:r>
              <a:rPr lang="en-US" altLang="zh-CN" sz="1800"/>
              <a:t>2302   202321054046</a:t>
            </a:r>
            <a:endParaRPr lang="en-US" altLang="zh-CN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 sz="3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课堂笔记</a:t>
            </a:r>
            <a:endParaRPr lang="zh-CN" altLang="en-US" sz="36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 descr="ad6084f48432633f64fb5d972f9ac5a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066165"/>
            <a:ext cx="3839845" cy="5175250"/>
          </a:xfrm>
          <a:prstGeom prst="rect">
            <a:avLst/>
          </a:prstGeom>
        </p:spPr>
      </p:pic>
      <p:pic>
        <p:nvPicPr>
          <p:cNvPr id="6" name="图片 5" descr="15abdea2ed1761d2b6bbef65abe20d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455" y="1066165"/>
            <a:ext cx="3804920" cy="51898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 sz="3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本章概念汇总</a:t>
            </a:r>
            <a:endParaRPr lang="zh-CN" altLang="en-US" sz="36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7220" y="1359535"/>
            <a:ext cx="10515600" cy="4584065"/>
          </a:xfrm>
        </p:spPr>
        <p:txBody>
          <a:bodyPr>
            <a:normAutofit fontScale="90000" lnSpcReduction="20000"/>
          </a:bodyPr>
          <a:p>
            <a:pPr marL="87630" indent="0" algn="just">
              <a:lnSpc>
                <a:spcPct val="110000"/>
              </a:lnSpc>
              <a:buClr>
                <a:srgbClr val="00B0F0"/>
              </a:buClr>
              <a:buNone/>
            </a:pPr>
            <a:r>
              <a: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</a:t>
            </a:r>
            <a:r>
              <a:rPr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大数据</a:t>
            </a:r>
            <a:r>
              <a: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（Big Data）：又称海量数据，指的是以不同形式存在于数据库、网络等媒介上蕴含丰富信息的规模巨大的数据。</a:t>
            </a:r>
            <a:endParaRPr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7630" indent="0" algn="just">
              <a:lnSpc>
                <a:spcPct val="110000"/>
              </a:lnSpc>
              <a:buClr>
                <a:srgbClr val="00B0F0"/>
              </a:buClr>
              <a:buNone/>
            </a:pPr>
            <a:r>
              <a:rPr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数据挖掘</a:t>
            </a:r>
            <a:r>
              <a: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（Data Mining）：也叫数据开采、数据挖掘等，就是从大量的、不完全的、有噪声的、模糊的、随机的实际应用数据中，提取隐含在其中的、人们事先不知道的，但又是潜在有用的信息和知识的过程。</a:t>
            </a:r>
            <a:endParaRPr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7630" indent="0" algn="just">
              <a:lnSpc>
                <a:spcPct val="110000"/>
              </a:lnSpc>
              <a:buClr>
                <a:srgbClr val="00B0F0"/>
              </a:buClr>
              <a:buNone/>
            </a:pPr>
            <a:r>
              <a:rPr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</a:t>
            </a:r>
            <a:r>
              <a:rPr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数据降维</a:t>
            </a:r>
            <a:r>
              <a: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（主成分分析PCA、t-SNE）：即为了适应计算机的处理能力，在对数据进行处理后，考虑将数据进行降维，从而缩减数据量。通常的降维方式分为，分级形式逐层降维与分散降维两种方式。</a:t>
            </a:r>
            <a:endParaRPr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7630" indent="0" algn="just">
              <a:lnSpc>
                <a:spcPct val="110000"/>
              </a:lnSpc>
              <a:buClr>
                <a:srgbClr val="00B0F0"/>
              </a:buClr>
              <a:buNone/>
            </a:pPr>
            <a:r>
              <a:rPr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</a:t>
            </a:r>
            <a:r>
              <a:rPr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有监督</a:t>
            </a:r>
            <a:r>
              <a: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（supervised ）、</a:t>
            </a:r>
            <a:r>
              <a:rPr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无监督</a:t>
            </a:r>
            <a:r>
              <a: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（unsupervised）：在数据挖掘中，从实现的角度，根据各种模型在实现过程中的人工监督（干预程序），将模型分为有监督和无监督模型。</a:t>
            </a:r>
            <a:endParaRPr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本章概念汇总</a:t>
            </a:r>
            <a:endParaRPr lang="zh-CN" altLang="en-US" sz="36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</a:t>
            </a:r>
            <a:r>
              <a:rPr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有监督</a:t>
            </a:r>
            <a:r>
              <a: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supervised </a:t>
            </a:r>
            <a:r>
              <a: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）、</a:t>
            </a:r>
            <a:r>
              <a:rPr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无监督</a:t>
            </a:r>
            <a:r>
              <a: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unsupervised</a:t>
            </a:r>
            <a:r>
              <a: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）：将本章模型结构按该划分，可分为有监督模型（分类（贝叶斯、神经网络等），回归（线性、逐步等），预测（马尔科夫等））；无监督模型（聚类（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K-</a:t>
            </a:r>
            <a:r>
              <a: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均值、层次聚类等），关联（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Aprior</a:t>
            </a:r>
            <a:r>
              <a: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等），诊断（贝叶斯、神经网络等））。</a:t>
            </a:r>
            <a:endParaRPr sz="24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5.</a:t>
            </a:r>
            <a:r>
              <a:rPr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结构化数据</a:t>
            </a:r>
            <a:r>
              <a: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Structured Data</a:t>
            </a:r>
            <a:r>
              <a: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）、</a:t>
            </a:r>
            <a:r>
              <a:rPr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半结构化数据</a:t>
            </a:r>
            <a:r>
              <a: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semi- Structured Data </a:t>
            </a:r>
            <a:r>
              <a: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）、</a:t>
            </a:r>
            <a:r>
              <a:rPr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非结构化数据</a:t>
            </a:r>
            <a:r>
              <a: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Non-Structured Data </a:t>
            </a:r>
            <a:r>
              <a: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）：根据数据的存储形式，将数据分为结构化数据、半结构化数据、非结构化数据。</a:t>
            </a:r>
            <a:endParaRPr lang="en-US" altLang="zh-CN" sz="24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214630" y="3829050"/>
          <a:ext cx="11798300" cy="2304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9575"/>
                <a:gridCol w="2949575"/>
                <a:gridCol w="2949575"/>
                <a:gridCol w="2949575"/>
              </a:tblGrid>
              <a:tr h="3841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存储形式数据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形式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应用场景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存储需求</a:t>
                      </a:r>
                      <a:endParaRPr lang="zh-CN" alt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/>
                        <a:t>结构化数据</a:t>
                      </a:r>
                      <a:endParaRPr lang="zh-CN" altLang="en-US" sz="20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数据库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企业</a:t>
                      </a:r>
                      <a:r>
                        <a:rPr lang="en-US" altLang="zh-CN"/>
                        <a:t>ERP</a:t>
                      </a:r>
                      <a:r>
                        <a:rPr lang="zh-CN" altLang="en-US"/>
                        <a:t>、政府行政审批等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高速存储应用、数据备份、数据共享及数据容灾需求</a:t>
                      </a:r>
                      <a:endParaRPr lang="zh-CN" alt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/>
                        <a:t>半结构化数据</a:t>
                      </a:r>
                      <a:endParaRPr lang="zh-CN" altLang="en-US" sz="20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视频、音频、图片、文档、文本等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国土</a:t>
                      </a:r>
                      <a:r>
                        <a:rPr lang="en-US" altLang="zh-CN"/>
                        <a:t>GIS</a:t>
                      </a:r>
                      <a:r>
                        <a:rPr lang="zh-CN" altLang="en-US"/>
                        <a:t>、设计院、媒体资源管理等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数据存储、数据备份以及数据共享需求</a:t>
                      </a:r>
                      <a:endParaRPr lang="zh-CN" alt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/>
                        <a:t>非结构化数据</a:t>
                      </a:r>
                      <a:endParaRPr lang="zh-CN" altLang="en-US" sz="20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邮件、</a:t>
                      </a:r>
                      <a:r>
                        <a:rPr lang="en-US" altLang="zh-CN"/>
                        <a:t>HTML</a:t>
                      </a:r>
                      <a:r>
                        <a:rPr lang="zh-CN" altLang="en-US"/>
                        <a:t>、报表、资源库等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邮件系统、数据挖掘系统、档案系统等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数据存储、数据备份、数据共享以及数据归档等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本章概念汇总</a:t>
            </a:r>
            <a:endParaRPr lang="zh-CN" altLang="en-US" sz="36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5485" y="1341120"/>
            <a:ext cx="10836910" cy="4798060"/>
          </a:xfrm>
        </p:spPr>
        <p:txBody>
          <a:bodyPr>
            <a:normAutofit fontScale="80000"/>
          </a:bodyPr>
          <a:p>
            <a:pPr marL="0" algn="l">
              <a:lnSpc>
                <a:spcPct val="110000"/>
              </a:lnSpc>
              <a:buClrTx/>
              <a:buSzTx/>
              <a:buNone/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6.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数据预处理、数据清洗：由于来自实际的数据存在各种问题，数据质量差，需要通过一定方法对数据进行预处理，以提高数据质量，满足数据挖掘的需要。数据预处理的主要任务可以概括为数据清洗、数据集成、数据集成和数据变化四个内容。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110000"/>
              </a:lnSpc>
              <a:buClrTx/>
              <a:buSzTx/>
              <a:buNone/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数据清理是通过填写缺失的值、光滑噪声数据、识别或删除离群点，解决不一致等方式来“清理”数据，概括下其主要任务是填充缺失值和去除数据中的噪声。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110000"/>
              </a:lnSpc>
              <a:buClrTx/>
              <a:buSzTx/>
              <a:buNone/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7.数据标准化（Normalization）、数据归一化：数据标准化、归一化是将数据按比例缩放，使之落入一个小的特定区间，用以去除数据的单位限制、消除测量数据量纲差异、将其转化为无量纲的纯数值，便于不同单位或量级的指标能够进行比较和加权。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110000"/>
              </a:lnSpc>
              <a:buClrTx/>
              <a:buSzTx/>
              <a:buNone/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8.衍生变量（derived variable）：顾名思义是由其他既有变量通过不同形式的组合而衍生的变量。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7220" y="233680"/>
            <a:ext cx="7152005" cy="832485"/>
          </a:xfrm>
        </p:spPr>
        <p:txBody>
          <a:bodyPr>
            <a:normAutofit fontScale="90000"/>
          </a:bodyPr>
          <a:p>
            <a:r>
              <a:rPr lang="zh-CN" altLang="en-US" sz="36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《白话机器学习算法》第一章读书笔记</a:t>
            </a:r>
            <a:endParaRPr lang="zh-CN" altLang="en-US" sz="3600" b="1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第一章提供了机器学习的入门知识储备，从数据科学研究的4大主要步骤为轴心，即准备数据、选择算法建立模型、调整参数优化模型、根据准确度评价模型，描述了各个环节中的方法分类、应用操作等等。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准备数据，数据格式、变量分类与选择、数据处理，包含了数据准备、数据探索两个阶段；选择算法，算法分类及各算法任务目标与含义、并举例说明，包含了模型的建立这一阶段；参数调优，着重于同一算法中参数选择对当前数据与预测数据的结果影响，属于模型评估这一阶段；评价模型，准确性、回归指标、回证，也属于模型评估阶段。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总体而言，第一章就数据挖掘的六阶段而言，淡化了目标意义的挖掘选择、最终的部署，而着重于数据本身的处理与预测等，强调科学的研究步骤，为往后的机器学习的学习提供基础。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a43bc9fe-2fdc-4141-96ed-964432cf6e95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1527</Words>
  <Application>WPS 演示</Application>
  <PresentationFormat>宽屏</PresentationFormat>
  <Paragraphs>67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Calibri</vt:lpstr>
      <vt:lpstr>Arial Unicode MS</vt:lpstr>
      <vt:lpstr>Office 主题</vt:lpstr>
      <vt:lpstr>数据挖掘</vt:lpstr>
      <vt:lpstr>本章概念汇总</vt:lpstr>
      <vt:lpstr>本章概念汇总</vt:lpstr>
      <vt:lpstr>本章概念汇总</vt:lpstr>
      <vt:lpstr>本章概念汇总</vt:lpstr>
      <vt:lpstr>《白话机器学习算法》第一章读书笔记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宋子旻</dc:creator>
  <cp:lastModifiedBy>Lucky-S</cp:lastModifiedBy>
  <cp:revision>10</cp:revision>
  <dcterms:created xsi:type="dcterms:W3CDTF">2026-03-11T08:00:00Z</dcterms:created>
  <dcterms:modified xsi:type="dcterms:W3CDTF">2026-06-08T15:37:30Z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33A909027955440DA3369044E0BECD7C_12</vt:lpwstr>
  </property>
</Properties>
</file>