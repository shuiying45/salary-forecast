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9" r:id="rId4"/>
  </p:sldMasterIdLst>
  <p:notesMasterIdLst>
    <p:notesMasterId r:id="rId6"/>
  </p:notesMasterIdLst>
  <p:sldIdLst>
    <p:sldId id="1055" r:id="rId5"/>
    <p:sldId id="281" r:id="rId7"/>
    <p:sldId id="1062" r:id="rId8"/>
    <p:sldId id="1056" r:id="rId9"/>
    <p:sldId id="1057" r:id="rId10"/>
    <p:sldId id="1058" r:id="rId11"/>
    <p:sldId id="1061" r:id="rId12"/>
    <p:sldId id="1059" r:id="rId13"/>
    <p:sldId id="1060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59" autoAdjust="0"/>
  </p:normalViewPr>
  <p:slideViewPr>
    <p:cSldViewPr snapToGrid="0" showGuides="1">
      <p:cViewPr>
        <p:scale>
          <a:sx n="100" d="100"/>
          <a:sy n="100" d="100"/>
        </p:scale>
        <p:origin x="-990" y="-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fld id="{A00174BB-53EE-45EA-84AF-842BFE25EA7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fld id="{A3616380-4D91-43BB-AB19-A369B4EA0778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50C4EE6-7E3D-412F-8AFA-B4D678A9EE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rcRect l="5285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-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 userDrawn="1"/>
        </p:nvSpPr>
        <p:spPr>
          <a:xfrm>
            <a:off x="5147687" y="-223903"/>
            <a:ext cx="18956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fld id="{44B5E3D8-B559-49FC-84E7-900B409E63B2}" type="slidenum">
              <a:rPr kumimoji="0" lang="id-ID" sz="9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antGarde Bk BT" panose="020B0402020202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</a:fld>
            <a:endParaRPr lang="bg-BG" sz="9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632D7-6FC5-4F1F-BD09-62CFF46557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B11E6-E9F9-4B83-8B53-4B698CD69B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2891881" y="2343755"/>
            <a:ext cx="6408238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66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数据挖掘</a:t>
            </a:r>
            <a:endParaRPr lang="zh-CN" altLang="en-US" sz="6600" b="1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056829" y="3793612"/>
            <a:ext cx="6078342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3913505"/>
            <a:ext cx="12192000" cy="3126105"/>
          </a:xfrm>
        </p:spPr>
        <p:txBody>
          <a:bodyPr>
            <a:normAutofit/>
          </a:bodyPr>
          <a:p>
            <a:pPr marL="0" indent="0" algn="ctr">
              <a:buNone/>
            </a:pP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第八章作业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marL="0" indent="0" algn="ctr">
              <a:buNone/>
            </a:pPr>
            <a:r>
              <a:rPr lang="zh-CN" altLang="en-US" sz="1800"/>
              <a:t>宋子旻   信管</a:t>
            </a:r>
            <a:r>
              <a:rPr lang="en-US" altLang="zh-CN" sz="1800"/>
              <a:t>2302   202321054046</a:t>
            </a:r>
            <a:endParaRPr lang="en-US" altLang="zh-CN" sz="18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7690" y="1718310"/>
            <a:ext cx="1105598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在原始特征基础上加入性别列，使用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pd.get_dummies(dataset['Gender'], drop_first=True)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进行独热编码，生成一列 0/1 表示性别（男性为 1，女性为 0），将其与年龄、收入列合并为新的特征矩阵。重新执行数据划分、特征缩放、模型训练与评估流程后，发现准确率变化很小，通常在 0.93-0.95 之间波动。这是因为在该社交网络广告数据集中，性别对用户购买行为的影响远弱于年龄和预估收入，仅能对少数边缘样本的分类产生微调作用，不会显著改变模型整体的预测性能。</a:t>
            </a:r>
            <a:endParaRPr lang="zh-CN" altLang="en-US" sz="2400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2818130" y="297180"/>
            <a:ext cx="6555740" cy="107632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加入性别因素（</a:t>
            </a:r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One-Hot 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编码）对准确率的影响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/>
          <p:nvPr/>
        </p:nvSpPr>
        <p:spPr>
          <a:xfrm>
            <a:off x="0" y="297180"/>
            <a:ext cx="6555740" cy="107632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加入性别因素（</a:t>
            </a:r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One-Hot 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编码）对准确率的影响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4" name="图片 3" descr="2d1922738ffa9f6bbe622640df5a774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85" y="2260600"/>
            <a:ext cx="5740400" cy="3458845"/>
          </a:xfrm>
          <a:prstGeom prst="rect">
            <a:avLst/>
          </a:prstGeom>
        </p:spPr>
      </p:pic>
      <p:pic>
        <p:nvPicPr>
          <p:cNvPr id="5" name="图片 4" descr="891c0a86f27200aec43a71f0d9eb40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840" y="199390"/>
            <a:ext cx="5979160" cy="64592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1600" y="1092200"/>
            <a:ext cx="599376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在社交网络广告数据集上，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KNN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与 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Logistic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回归的整体准确率相近，均稳定在 0.94 左右。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Logistic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回归作为线性分类器，训练速度极快，且能输出每个特征的系数，清晰解释年龄、收入对购买行为的影响程度，模型可解释性极强。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KNN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作为非线性无参数算法，虽然训练速度较慢，且无法直接给出特征重要性，但能更好地捕捉数据中的非线性边界，在边界模糊的样本分类上略有优势。</a:t>
            </a:r>
            <a:endParaRPr lang="zh-CN" altLang="en-US" sz="2400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2818130" y="297180"/>
            <a:ext cx="655574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 </a:t>
            </a:r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KNN 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与 </a:t>
            </a:r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Logistic 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回归对比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 descr="5a8b9c58ec160f27f7ee34f1209fd0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365" y="1214120"/>
            <a:ext cx="5962650" cy="538670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4945" y="1065530"/>
            <a:ext cx="540258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训练集与测试集的划分比例对模型最终准确率有显著影响。当训练集比例从 5:5 逐步提升至 8:2 时，模型能学习到更多数据规律，准确率呈现稳步上升趋势。但当训练集比例超过 9:1 后，测试集样本量过少，无法全面代表数据分布，导致评估结果出现大幅波动，同时模型容易过度拟合训练集中的个别噪声样本，反而降低了泛化能力。</a:t>
            </a:r>
            <a:endParaRPr lang="zh-CN" altLang="en-US" sz="2400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2818130" y="297180"/>
            <a:ext cx="655574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训练集比例影响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 descr="ca949824c723b1fdd296e3b9060bd84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7855" y="1290955"/>
            <a:ext cx="6356985" cy="54597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54305" y="693420"/>
            <a:ext cx="5503545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KNN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算法的超参数 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K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直接决定了模型的复杂度与泛化能力。当 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K=1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时，模型仅根据最近的 1 个邻居进行判断，会完全记住训练集中的所有噪声点，出现严重过拟合，训练准确率接近 100% 但测试准确率较低。随着 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K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值增大，模型逐渐平滑，泛化能力提升，在 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K=3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和 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K=5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时达到最优准确率 0.94-0.95。当 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K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继续增大至 7、9 时，模型会过度平均邻居信息，出现欠拟合，准确率缓慢下降。</a:t>
            </a:r>
            <a:endParaRPr lang="zh-CN" altLang="en-US" sz="2400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2818130" y="297180"/>
            <a:ext cx="655574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超参数 </a:t>
            </a:r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K 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影响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 descr="e648f65cbf577badd04bb1ba7f98e11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4765" y="995680"/>
            <a:ext cx="5020945" cy="56889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0" y="786765"/>
            <a:ext cx="591121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在本 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KNN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分类任务中，过拟合主要出现在三种典型场景。第一种是 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K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值过小，如 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K=1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时，模型对训练数据的拟合程度过高，无法泛化到新数据。第二种是训练集比例过高，当训练集占比超过 90% 时，测试集代表性不足，模型会学习到训练集中的特有噪声。第三种是引入过多无关特征，如加入与购买行为无关的用户 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ID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等，会增加模型复杂度，导致过拟合。过拟合的核心表现是训练准确率远高于测试准确率。</a:t>
            </a:r>
            <a:endParaRPr lang="zh-CN" altLang="en-US" sz="2400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2818130" y="297180"/>
            <a:ext cx="655574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过拟合场景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 descr="2be501d328acb84f4a30c1c82678ae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215" y="1613535"/>
            <a:ext cx="6113780" cy="40697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256665" y="1689735"/>
            <a:ext cx="967867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通过本次多维度对比试验，可以得出针对社交网络广告购买预测任务的最优模型配置。综合准确率、速度与解释性，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Logistic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回归和 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K=5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的 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KNN 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算法都是合适的选择，推荐采用 7:3 或 8:2 的训练集测试集划分比例。试验表明，没有绝对最优的算法，只有最适合数据特点的配置，通过系统的对比试验找到最优参数组合，是提升机器学习模型性能的关键步骤。</a:t>
            </a:r>
            <a:endParaRPr lang="zh-CN" altLang="en-US" sz="2400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2818130" y="297180"/>
            <a:ext cx="655574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多维度对比试验分析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67640" y="880745"/>
            <a:ext cx="635317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在原有可视化基础上，使用形状区分性别，同时保留颜色区分购买状态。具体实现时将数据按性别和购买标签分为四组：男性未购买（红色圆形）、男性购买（绿色圆形）、女性未购买（红色三角形）、女性购买（绿色三角形），分别调用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plt.scatter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并指定不同</a:t>
            </a:r>
            <a:r>
              <a:rPr lang="en-US" altLang="zh-CN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marker</a:t>
            </a: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参数。修改后的图表可同时展示年龄、收入、性别和购买行为四个维度的信息，直观呈现不同性别用户在年龄 - 收入平面上的购买分布差异，帮助发现潜在的性别相关消费规律。</a:t>
            </a:r>
            <a:endParaRPr lang="zh-CN" altLang="en-US" sz="2400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2818130" y="297180"/>
            <a:ext cx="655574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 纳入性别维度的二维可视化修改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 descr="7b219c6c8bfbf244e4148436b46c5af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4135" y="1437640"/>
            <a:ext cx="5740400" cy="414274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KSO_WPP_MARK_KEY" val="0e5f9e42-42cc-460d-9ddc-81bc94931e52"/>
</p:tagLst>
</file>

<file path=ppt/theme/theme1.xml><?xml version="1.0" encoding="utf-8"?>
<a:theme xmlns:a="http://schemas.openxmlformats.org/drawingml/2006/main" name="第一PPT，www.1ppt.com">
  <a:themeElements>
    <a:clrScheme name="灰度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acei4vif">
      <a:majorFont>
        <a:latin typeface="AvantGarde Bk BT"/>
        <a:ea typeface="YouYuan"/>
        <a:cs typeface="Arial"/>
      </a:majorFont>
      <a:minorFont>
        <a:latin typeface="AvantGarde Bk BT"/>
        <a:ea typeface="YouYua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    ">
  <a:themeElements>
    <a:clrScheme name="灰度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acei4vif">
      <a:majorFont>
        <a:latin typeface="AvantGarde Bk BT"/>
        <a:ea typeface="YouYuan"/>
        <a:cs typeface="Arial"/>
      </a:majorFont>
      <a:minorFont>
        <a:latin typeface="AvantGarde Bk BT"/>
        <a:ea typeface="YouYua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1515</Words>
  <Application>WPS 演示</Application>
  <PresentationFormat>自定义</PresentationFormat>
  <Paragraphs>37</Paragraphs>
  <Slides>9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Wingdings</vt:lpstr>
      <vt:lpstr>Arial</vt:lpstr>
      <vt:lpstr>AvantGarde Bk BT</vt:lpstr>
      <vt:lpstr>Open Sans Condensed Light</vt:lpstr>
      <vt:lpstr>字魂58号-创中黑</vt:lpstr>
      <vt:lpstr>黑体</vt:lpstr>
      <vt:lpstr>阿里巴巴普惠体</vt:lpstr>
      <vt:lpstr>Segoe Print</vt:lpstr>
      <vt:lpstr>字魂58号-创中黑</vt:lpstr>
      <vt:lpstr>Yu Gothic UI Semilight</vt:lpstr>
      <vt:lpstr>幼圆</vt:lpstr>
      <vt:lpstr>Arial Unicode MS</vt:lpstr>
      <vt:lpstr>Yu Gothic UI Light</vt:lpstr>
      <vt:lpstr>Calibri</vt:lpstr>
      <vt:lpstr>Wingdings</vt:lpstr>
      <vt:lpstr>字魂58号-创中黑</vt:lpstr>
      <vt:lpstr>阿里巴巴普惠体</vt:lpstr>
      <vt:lpstr>Melanie BT Std Roman</vt:lpstr>
      <vt:lpstr>Saturday Sans Regular</vt:lpstr>
      <vt:lpstr>字魂创中黑</vt:lpstr>
      <vt:lpstr>阿里巴巴和七个小矮人</vt:lpstr>
      <vt:lpstr>第一PPT，www.1ppt.com</vt:lpstr>
      <vt:lpstr>第一PPT，www.1ppt.com     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极简商务</dc:title>
  <dc:creator>第一PPT</dc:creator>
  <cp:keywords>www.1ppt.com</cp:keywords>
  <dc:description>www.1ppt.com</dc:description>
  <cp:lastModifiedBy>Lucky-S</cp:lastModifiedBy>
  <cp:revision>19</cp:revision>
  <dcterms:created xsi:type="dcterms:W3CDTF">2019-03-26T04:26:00Z</dcterms:created>
  <dcterms:modified xsi:type="dcterms:W3CDTF">2026-06-08T15:26:22Z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D653B2D4BEF9465681F3BC65DFD2F0DF_11</vt:lpwstr>
  </property>
  <property fmtid="{D5CDD505-2E9C-101B-9397-08002B2CF9AE}" pid="3" name="KSOProductBuildVer">
    <vt:lpwstr>2052-12.1.0.26895</vt:lpwstr>
  </property>
  <property fmtid="{D5CDD505-2E9C-101B-9397-08002B2CF9AE}" pid="4" name="KSOTemplateUUID">
    <vt:lpwstr>v1.0_mb_Y0R1UnCSmrbzT+SbqrpIkA==</vt:lpwstr>
  </property>
</Properties>
</file>