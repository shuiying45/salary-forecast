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9" r:id="rId4"/>
  </p:sldMasterIdLst>
  <p:notesMasterIdLst>
    <p:notesMasterId r:id="rId6"/>
  </p:notesMasterIdLst>
  <p:sldIdLst>
    <p:sldId id="1055" r:id="rId5"/>
    <p:sldId id="281" r:id="rId7"/>
    <p:sldId id="1058" r:id="rId8"/>
    <p:sldId id="1059" r:id="rId9"/>
    <p:sldId id="1060" r:id="rId10"/>
    <p:sldId id="1061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59" autoAdjust="0"/>
  </p:normalViewPr>
  <p:slideViewPr>
    <p:cSldViewPr snapToGrid="0" showGuides="1">
      <p:cViewPr>
        <p:scale>
          <a:sx n="100" d="100"/>
          <a:sy n="100" d="100"/>
        </p:scale>
        <p:origin x="-990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00174BB-53EE-45EA-84AF-842BFE25EA7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8号-创中黑" pitchFamily="2" charset="-122"/>
                <a:ea typeface="字魂58号-创中黑" pitchFamily="2" charset="-122"/>
              </a:defRPr>
            </a:lvl1pPr>
          </a:lstStyle>
          <a:p>
            <a:fld id="{A3616380-4D91-43BB-AB19-A369B4EA0778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8号-创中黑" pitchFamily="2" charset="-122"/>
        <a:ea typeface="字魂58号-创中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50C4EE6-7E3D-412F-8AFA-B4D678A9EE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 l="5285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995000-F240-4C38-BEE7-E09B405C38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AF2809-E933-4BF6-A9B0-1084793863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-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5147687" y="-223903"/>
            <a:ext cx="18956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fld id="{44B5E3D8-B559-49FC-84E7-900B409E63B2}" type="slidenum">
              <a:rPr kumimoji="0" lang="id-ID" sz="9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vantGarde Bk BT" panose="020B0402020202020204" pitchFamily="34" charset="0"/>
                <a:ea typeface="Open Sans Condensed Light" panose="020B0306030504020204" pitchFamily="34" charset="0"/>
                <a:cs typeface="Open Sans Condensed Light" panose="020B0306030504020204" pitchFamily="34" charset="0"/>
              </a:rPr>
            </a:fld>
            <a:endParaRPr lang="bg-BG" sz="9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632D7-6FC5-4F1F-BD09-62CFF46557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B11E6-E9F9-4B83-8B53-4B698CD69B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"/>
          <p:cNvSpPr txBox="1"/>
          <p:nvPr/>
        </p:nvSpPr>
        <p:spPr>
          <a:xfrm>
            <a:off x="2891881" y="2343755"/>
            <a:ext cx="6408238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6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阿里巴巴普惠体"/>
              </a:rPr>
              <a:t>数据挖掘</a:t>
            </a:r>
            <a:endParaRPr lang="zh-CN" altLang="en-US" sz="6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阿里巴巴普惠体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056829" y="3793612"/>
            <a:ext cx="6078342" cy="0"/>
          </a:xfrm>
          <a:prstGeom prst="lin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913505"/>
            <a:ext cx="12192000" cy="3126105"/>
          </a:xfrm>
        </p:spPr>
        <p:txBody>
          <a:bodyPr>
            <a:normAutofit/>
          </a:bodyPr>
          <a:p>
            <a:pPr marL="0" indent="0" algn="ctr">
              <a:buNone/>
            </a:pP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第五章作业</a:t>
            </a:r>
            <a:endParaRPr lang="zh-CN" altLang="en-US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marL="0" indent="0" algn="ctr">
              <a:buNone/>
            </a:pPr>
            <a:r>
              <a:rPr lang="zh-CN" altLang="en-US" sz="1800"/>
              <a:t>宋子旻   信管</a:t>
            </a:r>
            <a:r>
              <a:rPr lang="en-US" altLang="zh-CN" sz="1800"/>
              <a:t>2302   202321054046</a:t>
            </a:r>
            <a:endParaRPr lang="en-US" altLang="zh-CN" sz="18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710" y="1273810"/>
            <a:ext cx="1149858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关联选股是依托股票间关联关系，通过大数据挖掘、统计分析与规则提取，识别联动规律与领先滞后效应，构建高胜率选股逻辑的量化 / 实战选股方法。它跳出单一个股分析局限，以关联网络为核心视角，捕捉信息传导、资金联动、行业轮动带来的超额收益，是短线交易与量化投资的主流体系之一。</a:t>
            </a:r>
            <a:endParaRPr lang="en-US" sz="20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en-US" sz="20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r>
              <a:rPr lang="en-US" sz="20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A 股标的超 5000 只，个股筛选难度大、信息噪音多；传统勤奋复盘、财报研读、技术分析易陷入 “努力悖论”，低效重复无法稳定盈利，亟需抓关联、抓联动的高效选股路径。从传统有效市场假说，到行为金融学，再到大数据关联规则挖掘、复杂网络分析，形成完整理论闭环。关联规则（Apriori）、相关性分析、协整检验、图神经网络等技术普及，可批量挖掘行业、题材、资金、价格等隐性关联，实现数据化、可复现的选股流程。同板块普涨普跌、上下游传导、龙头带动跟风、题材扩散联动已成市场常态，关联信号具备稳定实战价值。</a:t>
            </a:r>
            <a:endParaRPr lang="en-US" sz="20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3367405" y="261620"/>
            <a:ext cx="545719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+mn-ea"/>
              </a:rPr>
              <a:t>关联选股的背景知识整理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53390" y="1707515"/>
            <a:ext cx="11284585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b="1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事务矩阵：</a:t>
            </a:r>
            <a:endParaRPr lang="en-US" sz="2800" b="1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algn="just" fontAlgn="base">
              <a:lnSpc>
                <a:spcPct val="150000"/>
              </a:lnSpc>
            </a:pPr>
            <a:r>
              <a:rPr lang="en-US" sz="2400">
                <a:solidFill>
                  <a:schemeClr val="tx1"/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行：每一行对应一个独立的事务记录，通常来自超市购物篮、订单、日志记录等</a:t>
            </a:r>
            <a:endParaRPr lang="en-US" sz="2400">
              <a:solidFill>
                <a:schemeClr val="tx1"/>
              </a:solidFill>
              <a:latin typeface="阿里巴巴普惠体 M" panose="00020600040101010101" charset="-122"/>
              <a:ea typeface="阿里巴巴普惠体 M" panose="00020600040101010101" charset="-122"/>
              <a:cs typeface="阿里巴巴普惠体 M" panose="00020600040101010101" charset="-122"/>
              <a:sym typeface="阿里巴巴普惠体"/>
            </a:endParaRPr>
          </a:p>
          <a:p>
            <a:pPr algn="just" fontAlgn="base">
              <a:lnSpc>
                <a:spcPct val="150000"/>
              </a:lnSpc>
            </a:pPr>
            <a:r>
              <a:rPr lang="en-US" sz="2400">
                <a:solidFill>
                  <a:schemeClr val="tx1"/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列：代表项，每一列对应一个具体的商品、属性或事件矩阵元素值（0 或 1), 表示 事务是否包含该项</a:t>
            </a:r>
            <a:endParaRPr lang="en-US" sz="2400">
              <a:solidFill>
                <a:schemeClr val="tx1"/>
              </a:solidFill>
              <a:latin typeface="阿里巴巴普惠体 M" panose="00020600040101010101" charset="-122"/>
              <a:ea typeface="阿里巴巴普惠体 M" panose="00020600040101010101" charset="-122"/>
              <a:cs typeface="阿里巴巴普惠体 M" panose="00020600040101010101" charset="-122"/>
              <a:sym typeface="阿里巴巴普惠体"/>
            </a:endParaRPr>
          </a:p>
          <a:p>
            <a:pPr algn="just" fontAlgn="base">
              <a:lnSpc>
                <a:spcPct val="150000"/>
              </a:lnSpc>
            </a:pPr>
            <a:r>
              <a:rPr lang="en-US" sz="2400">
                <a:solidFill>
                  <a:schemeClr val="tx1"/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若第 i行事务包含第 j列项，则矩阵元素M</a:t>
            </a:r>
            <a:r>
              <a:rPr lang="en-US" sz="2400" baseline="-25000">
                <a:solidFill>
                  <a:schemeClr val="tx1"/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ij </a:t>
            </a:r>
            <a:r>
              <a:rPr lang="en-US" sz="2400">
                <a:solidFill>
                  <a:schemeClr val="tx1"/>
                </a:solidFill>
                <a:latin typeface="阿里巴巴普惠体 M" panose="00020600040101010101" charset="-122"/>
                <a:ea typeface="阿里巴巴普惠体 M" panose="00020600040101010101" charset="-122"/>
                <a:cs typeface="阿里巴巴普惠体 M" panose="00020600040101010101" charset="-122"/>
                <a:sym typeface="阿里巴巴普惠体"/>
              </a:rPr>
              <a:t>= 1；</a:t>
            </a:r>
            <a:endParaRPr lang="en-US" sz="2400">
              <a:solidFill>
                <a:schemeClr val="tx1"/>
              </a:solidFill>
              <a:latin typeface="阿里巴巴普惠体 M" panose="00020600040101010101" charset="-122"/>
              <a:ea typeface="阿里巴巴普惠体 M" panose="00020600040101010101" charset="-122"/>
              <a:cs typeface="阿里巴巴普惠体 M" panose="00020600040101010101" charset="-122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4331335" y="297180"/>
            <a:ext cx="352933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+mn-ea"/>
              </a:rPr>
              <a:t>矩阵行与列的含义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4485" y="297180"/>
            <a:ext cx="2146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随机生成数据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4331335" y="297180"/>
            <a:ext cx="352933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阿里巴巴普惠体"/>
              </a:rPr>
              <a:t>运行程序</a:t>
            </a:r>
            <a:endParaRPr lang="en-US" altLang="zh-CN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9c949365467581f58a0e5a643ce7198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3095" y="942340"/>
            <a:ext cx="8589010" cy="59772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05180" y="113665"/>
            <a:ext cx="1579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 sz="2400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知识图谱</a:t>
            </a:r>
            <a:endParaRPr lang="zh-CN" altLang="en-US" sz="2400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0179833d10e70b7d46d611dad7cc8ee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57225" y="758825"/>
            <a:ext cx="6676390" cy="3164205"/>
          </a:xfrm>
          <a:prstGeom prst="rect">
            <a:avLst/>
          </a:prstGeom>
        </p:spPr>
      </p:pic>
      <p:pic>
        <p:nvPicPr>
          <p:cNvPr id="4" name="图片 3" descr="3ab26491fe06626793f8772b15e12f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6255" y="3783965"/>
            <a:ext cx="6535420" cy="3097530"/>
          </a:xfrm>
          <a:prstGeom prst="rect">
            <a:avLst/>
          </a:prstGeom>
        </p:spPr>
      </p:pic>
      <p:pic>
        <p:nvPicPr>
          <p:cNvPr id="5" name="图片 4" descr="9b019a743bd26c4dddcf3fda8f110a0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960" y="768985"/>
            <a:ext cx="6655435" cy="3154045"/>
          </a:xfrm>
          <a:prstGeom prst="rect">
            <a:avLst/>
          </a:prstGeom>
        </p:spPr>
      </p:pic>
      <p:pic>
        <p:nvPicPr>
          <p:cNvPr id="6" name="图片 5" descr="b1117f7d3ee36d1e83ba74af1c8d5ff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190" y="3783965"/>
            <a:ext cx="4404995" cy="28486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f7fb871e5b56323c1c62f428b9a68d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025" y="1010920"/>
            <a:ext cx="7038975" cy="5362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6855" y="880745"/>
            <a:ext cx="460057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步骤过程：</a:t>
            </a: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  <a:p>
            <a:pPr fontAlgn="base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阿里巴巴普惠体"/>
                <a:ea typeface="字魂58号-创中黑"/>
                <a:cs typeface="+mn-ea"/>
                <a:sym typeface="阿里巴巴普惠体"/>
              </a:rPr>
              <a:t>教材问题：第二次扫描应该产生候选集C2；：连接候选集C3存在遗漏</a:t>
            </a:r>
            <a:endParaRPr lang="zh-CN" altLang="en-US">
              <a:solidFill>
                <a:schemeClr val="tx1"/>
              </a:solidFill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3803650" y="297180"/>
            <a:ext cx="458533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3200" b="1" dirty="0">
                <a:latin typeface="阿里巴巴普惠体"/>
                <a:ea typeface="字魂58号-创中黑"/>
                <a:cs typeface="+mn-ea"/>
                <a:sym typeface="+mn-ea"/>
              </a:rPr>
              <a:t>教材分析过程的含义</a:t>
            </a:r>
            <a:endParaRPr lang="zh-CN" altLang="en-US" sz="3200" b="1" dirty="0">
              <a:latin typeface="阿里巴巴普惠体"/>
              <a:ea typeface="字魂58号-创中黑"/>
              <a:cs typeface="+mn-ea"/>
              <a:sym typeface="阿里巴巴普惠体"/>
            </a:endParaRPr>
          </a:p>
        </p:txBody>
      </p:sp>
      <p:pic>
        <p:nvPicPr>
          <p:cNvPr id="2" name="图片 1" descr="08e4591b020fc5c1b344daa5f5d5066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" y="1372235"/>
            <a:ext cx="5962650" cy="2438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KSO_WPP_MARK_KEY" val="0e5f9e42-42cc-460d-9ddc-81bc94931e52"/>
</p:tagLst>
</file>

<file path=ppt/theme/theme1.xml><?xml version="1.0" encoding="utf-8"?>
<a:theme xmlns:a="http://schemas.openxmlformats.org/drawingml/2006/main" name="第一PPT，www.1ppt.com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    ">
  <a:themeElements>
    <a:clrScheme name="灰度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acei4vif">
      <a:majorFont>
        <a:latin typeface="AvantGarde Bk BT"/>
        <a:ea typeface="YouYuan"/>
        <a:cs typeface="Arial"/>
      </a:majorFont>
      <a:minorFont>
        <a:latin typeface="AvantGarde Bk BT"/>
        <a:ea typeface="YouYuan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614</Words>
  <Application>WPS 演示</Application>
  <PresentationFormat>自定义</PresentationFormat>
  <Paragraphs>39</Paragraphs>
  <Slides>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Arial</vt:lpstr>
      <vt:lpstr>AvantGarde Bk BT</vt:lpstr>
      <vt:lpstr>Open Sans Condensed Light</vt:lpstr>
      <vt:lpstr>字魂58号-创中黑</vt:lpstr>
      <vt:lpstr>黑体</vt:lpstr>
      <vt:lpstr>阿里巴巴普惠体</vt:lpstr>
      <vt:lpstr>阿里巴巴普惠体 M</vt:lpstr>
      <vt:lpstr>字魂58号-创中黑</vt:lpstr>
      <vt:lpstr>Yu Gothic UI Semilight</vt:lpstr>
      <vt:lpstr>幼圆</vt:lpstr>
      <vt:lpstr>Arial Unicode MS</vt:lpstr>
      <vt:lpstr>Yu Gothic UI Light</vt:lpstr>
      <vt:lpstr>BatangChe</vt:lpstr>
      <vt:lpstr>Segoe Print</vt:lpstr>
      <vt:lpstr>Calibri</vt:lpstr>
      <vt:lpstr>第一PPT，www.1ppt.com</vt:lpstr>
      <vt:lpstr>第一PPT，www.1ppt.com     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Lucky-S</cp:lastModifiedBy>
  <cp:revision>18</cp:revision>
  <dcterms:created xsi:type="dcterms:W3CDTF">2019-03-26T04:26:00Z</dcterms:created>
  <dcterms:modified xsi:type="dcterms:W3CDTF">2026-06-01T07:39:08Z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D653B2D4BEF9465681F3BC65DFD2F0DF_11</vt:lpwstr>
  </property>
  <property fmtid="{D5CDD505-2E9C-101B-9397-08002B2CF9AE}" pid="3" name="KSOProductBuildVer">
    <vt:lpwstr>2052-11.1.0.10009</vt:lpwstr>
  </property>
  <property fmtid="{D5CDD505-2E9C-101B-9397-08002B2CF9AE}" pid="4" name="KSOTemplateUUID">
    <vt:lpwstr>v1.0_mb_Y0R1UnCSmrbzT+SbqrpIkA==</vt:lpwstr>
  </property>
</Properties>
</file>