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9" r:id="rId4"/>
  </p:sldMasterIdLst>
  <p:notesMasterIdLst>
    <p:notesMasterId r:id="rId6"/>
  </p:notesMasterIdLst>
  <p:sldIdLst>
    <p:sldId id="1055" r:id="rId5"/>
    <p:sldId id="281" r:id="rId7"/>
    <p:sldId id="1056" r:id="rId8"/>
    <p:sldId id="1063" r:id="rId9"/>
    <p:sldId id="1057" r:id="rId10"/>
    <p:sldId id="1058" r:id="rId11"/>
    <p:sldId id="1059" r:id="rId12"/>
    <p:sldId id="1060" r:id="rId13"/>
    <p:sldId id="1062" r:id="rId14"/>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59" autoAdjust="0"/>
  </p:normalViewPr>
  <p:slideViewPr>
    <p:cSldViewPr snapToGrid="0" showGuides="1">
      <p:cViewPr>
        <p:scale>
          <a:sx n="100" d="100"/>
          <a:sy n="100" d="100"/>
        </p:scale>
        <p:origin x="-990" y="-432"/>
      </p:cViewPr>
      <p:guideLst>
        <p:guide orient="horz" pos="2160"/>
        <p:guide pos="3840"/>
      </p:guideLst>
    </p:cSldViewPr>
  </p:slideViewPr>
  <p:notesTextViewPr>
    <p:cViewPr>
      <p:scale>
        <a:sx n="1" d="1"/>
        <a:sy n="1" d="1"/>
      </p:scale>
      <p:origin x="0" y="0"/>
    </p:cViewPr>
  </p:notesTextViewPr>
  <p:sorterViewPr>
    <p:cViewPr>
      <p:scale>
        <a:sx n="50" d="100"/>
        <a:sy n="5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58号-创中黑" pitchFamily="2" charset="-122"/>
                <a:ea typeface="字魂58号-创中黑"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58号-创中黑" pitchFamily="2" charset="-122"/>
                <a:ea typeface="字魂58号-创中黑" pitchFamily="2" charset="-122"/>
              </a:defRPr>
            </a:lvl1pPr>
          </a:lstStyle>
          <a:p>
            <a:fld id="{A00174BB-53EE-45EA-84AF-842BFE25EA78}"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58号-创中黑" pitchFamily="2" charset="-122"/>
                <a:ea typeface="字魂58号-创中黑"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58号-创中黑" pitchFamily="2" charset="-122"/>
                <a:ea typeface="字魂58号-创中黑" pitchFamily="2" charset="-122"/>
              </a:defRPr>
            </a:lvl1pPr>
          </a:lstStyle>
          <a:p>
            <a:fld id="{A3616380-4D91-43BB-AB19-A369B4EA0778}"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字魂58号-创中黑" pitchFamily="2" charset="-122"/>
        <a:ea typeface="字魂58号-创中黑" pitchFamily="2" charset="-122"/>
        <a:cs typeface="+mn-cs"/>
      </a:defRPr>
    </a:lvl1pPr>
    <a:lvl2pPr marL="457200" algn="l" defTabSz="914400" rtl="0" eaLnBrk="1" latinLnBrk="0" hangingPunct="1">
      <a:defRPr sz="1200" kern="1200">
        <a:solidFill>
          <a:schemeClr val="tx1"/>
        </a:solidFill>
        <a:latin typeface="字魂58号-创中黑" pitchFamily="2" charset="-122"/>
        <a:ea typeface="字魂58号-创中黑" pitchFamily="2" charset="-122"/>
        <a:cs typeface="+mn-cs"/>
      </a:defRPr>
    </a:lvl2pPr>
    <a:lvl3pPr marL="914400" algn="l" defTabSz="914400" rtl="0" eaLnBrk="1" latinLnBrk="0" hangingPunct="1">
      <a:defRPr sz="1200" kern="1200">
        <a:solidFill>
          <a:schemeClr val="tx1"/>
        </a:solidFill>
        <a:latin typeface="字魂58号-创中黑" pitchFamily="2" charset="-122"/>
        <a:ea typeface="字魂58号-创中黑" pitchFamily="2" charset="-122"/>
        <a:cs typeface="+mn-cs"/>
      </a:defRPr>
    </a:lvl3pPr>
    <a:lvl4pPr marL="1371600" algn="l" defTabSz="914400" rtl="0" eaLnBrk="1" latinLnBrk="0" hangingPunct="1">
      <a:defRPr sz="1200" kern="1200">
        <a:solidFill>
          <a:schemeClr val="tx1"/>
        </a:solidFill>
        <a:latin typeface="字魂58号-创中黑" pitchFamily="2" charset="-122"/>
        <a:ea typeface="字魂58号-创中黑" pitchFamily="2" charset="-122"/>
        <a:cs typeface="+mn-cs"/>
      </a:defRPr>
    </a:lvl4pPr>
    <a:lvl5pPr marL="1828800" algn="l" defTabSz="914400" rtl="0" eaLnBrk="1" latinLnBrk="0" hangingPunct="1">
      <a:defRPr sz="1200" kern="1200">
        <a:solidFill>
          <a:schemeClr val="tx1"/>
        </a:solidFill>
        <a:latin typeface="字魂58号-创中黑" pitchFamily="2" charset="-122"/>
        <a:ea typeface="字魂58号-创中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E50C4EE6-7E3D-412F-8AFA-B4D678A9EE79}" type="datetimeFigureOut">
              <a:rPr lang="zh-CN" altLang="en-US" smtClean="0"/>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9pPr>
          </a:lstStyle>
          <a:p>
            <a:r>
              <a:rPr lang="zh-CN" altLang="en-US"/>
              <a:t>单击此处编辑母版标题样式</a:t>
            </a:r>
            <a:endParaRPr lang="zh-CN" altLang="en-US"/>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endParaRPr lang="zh-CN" altLang="en-US"/>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rcRect l="5285"/>
          <a:stretch>
            <a:fillRect/>
          </a:stretch>
        </p:blipFill>
        <p:spPr>
          <a:xfrm>
            <a:off x="0" y="0"/>
            <a:ext cx="12192000" cy="6857999"/>
          </a:xfrm>
          <a:prstGeom prst="rect">
            <a:avLst/>
          </a:prstGeom>
        </p:spPr>
      </p:pic>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01-Main">
    <p:spTree>
      <p:nvGrpSpPr>
        <p:cNvPr id="1" name=""/>
        <p:cNvGrpSpPr/>
        <p:nvPr/>
      </p:nvGrpSpPr>
      <p:grpSpPr>
        <a:xfrm>
          <a:off x="0" y="0"/>
          <a:ext cx="0" cy="0"/>
          <a:chOff x="0" y="0"/>
          <a:chExt cx="0" cy="0"/>
        </a:xfrm>
      </p:grpSpPr>
      <p:sp>
        <p:nvSpPr>
          <p:cNvPr id="33" name="Rectangle 32"/>
          <p:cNvSpPr/>
          <p:nvPr userDrawn="1"/>
        </p:nvSpPr>
        <p:spPr>
          <a:xfrm>
            <a:off x="5147687" y="-223903"/>
            <a:ext cx="1895619" cy="1569660"/>
          </a:xfrm>
          <a:prstGeom prst="rect">
            <a:avLst/>
          </a:prstGeom>
        </p:spPr>
        <p:txBody>
          <a:bodyPr wrap="square">
            <a:spAutoFit/>
          </a:bodyPr>
          <a:lstStyle/>
          <a:p>
            <a:pPr algn="ctr"/>
            <a:fld id="{44B5E3D8-B559-49FC-84E7-900B409E63B2}" type="slidenum">
              <a:rPr kumimoji="0" lang="id-ID" sz="9600" b="1" i="0" u="none" strike="noStrike" kern="1200" cap="none" spc="0" normalizeH="0" baseline="0" noProof="0" smtClean="0">
                <a:ln>
                  <a:noFill/>
                </a:ln>
                <a:solidFill>
                  <a:schemeClr val="bg1"/>
                </a:solidFill>
                <a:effectLst/>
                <a:uLnTx/>
                <a:uFillTx/>
                <a:latin typeface="AvantGarde Bk BT" panose="020B0402020202020204" pitchFamily="34" charset="0"/>
                <a:ea typeface="Open Sans Condensed Light" panose="020B0306030504020204" pitchFamily="34" charset="0"/>
                <a:cs typeface="Open Sans Condensed Light" panose="020B0306030504020204" pitchFamily="34" charset="0"/>
              </a:rPr>
            </a:fld>
            <a:endParaRPr lang="bg-BG" sz="9600">
              <a:solidFill>
                <a:schemeClr val="bg1"/>
              </a:solidFill>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Large Footer">
    <p:spTree>
      <p:nvGrpSpPr>
        <p:cNvPr id="1" name=""/>
        <p:cNvGrpSpPr/>
        <p:nvPr/>
      </p:nvGrpSpPr>
      <p:grpSpPr>
        <a:xfrm>
          <a:off x="0" y="0"/>
          <a:ext cx="0" cy="0"/>
          <a:chOff x="0" y="0"/>
          <a:chExt cx="0" cy="0"/>
        </a:xfrm>
      </p:grpSpPr>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image" Target="../media/image2.png"/><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0632D7-6FC5-4F1F-BD09-62CFF46557A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DB11E6-E9F9-4B83-8B53-4B698CD69B7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8">
            <a:alphaModFix amt="70000"/>
          </a:blip>
          <a:stretch>
            <a:fillRect/>
          </a:stretch>
        </p:blipFill>
        <p:spPr>
          <a:xfrm>
            <a:off x="0" y="0"/>
            <a:ext cx="12192000" cy="6857999"/>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9.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9.xml"/><Relationship Id="rId2" Type="http://schemas.openxmlformats.org/officeDocument/2006/relationships/image" Target="../media/image10.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
          <p:cNvSpPr txBox="1"/>
          <p:nvPr/>
        </p:nvSpPr>
        <p:spPr>
          <a:xfrm>
            <a:off x="2891881" y="2343755"/>
            <a:ext cx="6408238" cy="1106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6600" b="1" dirty="0">
                <a:latin typeface="宋体" panose="02010600030101010101" pitchFamily="2" charset="-122"/>
                <a:ea typeface="宋体" panose="02010600030101010101" pitchFamily="2" charset="-122"/>
                <a:cs typeface="+mn-ea"/>
                <a:sym typeface="阿里巴巴普惠体"/>
              </a:rPr>
              <a:t>数据挖掘</a:t>
            </a:r>
            <a:endParaRPr lang="zh-CN" altLang="en-US" sz="6600" b="1" dirty="0">
              <a:latin typeface="宋体" panose="02010600030101010101" pitchFamily="2" charset="-122"/>
              <a:ea typeface="宋体" panose="02010600030101010101" pitchFamily="2" charset="-122"/>
              <a:cs typeface="+mn-ea"/>
              <a:sym typeface="阿里巴巴普惠体"/>
            </a:endParaRPr>
          </a:p>
        </p:txBody>
      </p:sp>
      <p:cxnSp>
        <p:nvCxnSpPr>
          <p:cNvPr id="4" name="直接连接符 3"/>
          <p:cNvCxnSpPr/>
          <p:nvPr/>
        </p:nvCxnSpPr>
        <p:spPr>
          <a:xfrm>
            <a:off x="3056829" y="3793612"/>
            <a:ext cx="6078342" cy="0"/>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副标题 2"/>
          <p:cNvSpPr>
            <a:spLocks noGrp="1"/>
          </p:cNvSpPr>
          <p:nvPr>
            <p:ph type="subTitle" idx="1"/>
          </p:nvPr>
        </p:nvSpPr>
        <p:spPr>
          <a:xfrm>
            <a:off x="0" y="3913505"/>
            <a:ext cx="12192000" cy="3126105"/>
          </a:xfrm>
        </p:spPr>
        <p:txBody>
          <a:bodyPr>
            <a:normAutofit/>
          </a:bodyPr>
          <a:p>
            <a:pPr marL="0" indent="0" algn="ctr">
              <a:buNone/>
            </a:pPr>
            <a:r>
              <a:rPr lang="zh-CN" altLang="en-US" sz="3200">
                <a:latin typeface="微软雅黑" panose="020B0503020204020204" pitchFamily="34" charset="-122"/>
                <a:ea typeface="微软雅黑" panose="020B0503020204020204" pitchFamily="34" charset="-122"/>
              </a:rPr>
              <a:t>第十章作业</a:t>
            </a:r>
            <a:endParaRPr lang="zh-CN" altLang="en-US" sz="3200">
              <a:latin typeface="微软雅黑" panose="020B0503020204020204" pitchFamily="34" charset="-122"/>
              <a:ea typeface="微软雅黑" panose="020B0503020204020204" pitchFamily="34" charset="-122"/>
            </a:endParaRPr>
          </a:p>
          <a:p>
            <a:pPr algn="ctr"/>
            <a:endParaRPr lang="zh-CN" altLang="en-US"/>
          </a:p>
          <a:p>
            <a:pPr algn="ctr"/>
            <a:endParaRPr lang="zh-CN" altLang="en-US"/>
          </a:p>
          <a:p>
            <a:pPr marL="0" indent="0" algn="ctr">
              <a:buNone/>
            </a:pPr>
            <a:r>
              <a:rPr lang="zh-CN" altLang="en-US" sz="1800"/>
              <a:t>宋子旻   信管</a:t>
            </a:r>
            <a:r>
              <a:rPr lang="en-US" altLang="zh-CN" sz="1800"/>
              <a:t>2302   202321054046</a:t>
            </a:r>
            <a:endParaRPr lang="en-US" altLang="zh-CN" sz="180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672465"/>
            <a:ext cx="12192000" cy="6185535"/>
          </a:xfrm>
          <a:prstGeom prst="rect">
            <a:avLst/>
          </a:prstGeom>
          <a:noFill/>
        </p:spPr>
        <p:txBody>
          <a:bodyPr wrap="square" rtlCol="0">
            <a:spAutoFit/>
          </a:bodyPr>
          <a:lstStyle/>
          <a:p>
            <a:pPr indent="457200" fontAlgn="base">
              <a:lnSpc>
                <a:spcPct val="150000"/>
              </a:lnSpc>
            </a:pPr>
            <a:r>
              <a:rPr lang="en-US" altLang="zh-CN" sz="2400">
                <a:solidFill>
                  <a:schemeClr val="tx1"/>
                </a:solidFill>
                <a:latin typeface="阿里巴巴普惠体"/>
                <a:ea typeface="字魂58号-创中黑"/>
                <a:cs typeface="+mn-ea"/>
                <a:sym typeface="阿里巴巴普惠体"/>
              </a:rPr>
              <a:t>K-Means </a:t>
            </a:r>
            <a:r>
              <a:rPr lang="zh-CN" altLang="en-US" sz="2400">
                <a:solidFill>
                  <a:schemeClr val="tx1"/>
                </a:solidFill>
                <a:latin typeface="阿里巴巴普惠体"/>
                <a:ea typeface="字魂58号-创中黑"/>
                <a:cs typeface="+mn-ea"/>
                <a:sym typeface="阿里巴巴普惠体"/>
              </a:rPr>
              <a:t>是一种经典的无监督学习算法，属于划分式聚类方法。它的核心目标是将 </a:t>
            </a:r>
            <a:r>
              <a:rPr lang="en-US" altLang="zh-CN" sz="2400">
                <a:solidFill>
                  <a:schemeClr val="tx1"/>
                </a:solidFill>
                <a:latin typeface="阿里巴巴普惠体"/>
                <a:ea typeface="字魂58号-创中黑"/>
                <a:cs typeface="+mn-ea"/>
                <a:sym typeface="阿里巴巴普惠体"/>
              </a:rPr>
              <a:t>n </a:t>
            </a:r>
            <a:r>
              <a:rPr lang="zh-CN" altLang="en-US" sz="2400">
                <a:solidFill>
                  <a:schemeClr val="tx1"/>
                </a:solidFill>
                <a:latin typeface="阿里巴巴普惠体"/>
                <a:ea typeface="字魂58号-创中黑"/>
                <a:cs typeface="+mn-ea"/>
                <a:sym typeface="阿里巴巴普惠体"/>
              </a:rPr>
              <a:t>个数据点划分为 </a:t>
            </a:r>
            <a:r>
              <a:rPr lang="en-US" altLang="zh-CN" sz="2400">
                <a:solidFill>
                  <a:schemeClr val="tx1"/>
                </a:solidFill>
                <a:latin typeface="阿里巴巴普惠体"/>
                <a:ea typeface="字魂58号-创中黑"/>
                <a:cs typeface="+mn-ea"/>
                <a:sym typeface="阿里巴巴普惠体"/>
              </a:rPr>
              <a:t>K </a:t>
            </a:r>
            <a:r>
              <a:rPr lang="zh-CN" altLang="en-US" sz="2400">
                <a:solidFill>
                  <a:schemeClr val="tx1"/>
                </a:solidFill>
                <a:latin typeface="阿里巴巴普惠体"/>
                <a:ea typeface="字魂58号-创中黑"/>
                <a:cs typeface="+mn-ea"/>
                <a:sym typeface="阿里巴巴普惠体"/>
              </a:rPr>
              <a:t>个簇，使得同一簇内的数据点相似度高（簇内紧凑），不同簇之间的数据点差异大（簇间独立）。</a:t>
            </a:r>
            <a:endParaRPr lang="zh-CN" altLang="en-US" sz="2400">
              <a:solidFill>
                <a:schemeClr val="tx1"/>
              </a:solidFill>
              <a:latin typeface="阿里巴巴普惠体"/>
              <a:ea typeface="字魂58号-创中黑"/>
              <a:cs typeface="+mn-ea"/>
              <a:sym typeface="阿里巴巴普惠体"/>
            </a:endParaRPr>
          </a:p>
          <a:p>
            <a:pPr indent="457200" fontAlgn="base">
              <a:lnSpc>
                <a:spcPct val="150000"/>
              </a:lnSpc>
            </a:pPr>
            <a:r>
              <a:rPr lang="zh-CN" altLang="en-US" sz="2400">
                <a:solidFill>
                  <a:schemeClr val="tx1"/>
                </a:solidFill>
                <a:latin typeface="阿里巴巴普惠体"/>
                <a:ea typeface="字魂58号-创中黑"/>
                <a:cs typeface="+mn-ea"/>
                <a:sym typeface="阿里巴巴普惠体"/>
              </a:rPr>
              <a:t>它的执行过程分为四个核心步骤：</a:t>
            </a:r>
            <a:endParaRPr lang="zh-CN" altLang="en-US" sz="2400">
              <a:solidFill>
                <a:schemeClr val="tx1"/>
              </a:solidFill>
              <a:latin typeface="阿里巴巴普惠体"/>
              <a:ea typeface="字魂58号-创中黑"/>
              <a:cs typeface="+mn-ea"/>
              <a:sym typeface="阿里巴巴普惠体"/>
            </a:endParaRPr>
          </a:p>
          <a:p>
            <a:pPr marL="457200" lvl="1" indent="457200" fontAlgn="base">
              <a:lnSpc>
                <a:spcPct val="150000"/>
              </a:lnSpc>
            </a:pPr>
            <a:r>
              <a:rPr lang="zh-CN" altLang="en-US" sz="2400">
                <a:solidFill>
                  <a:schemeClr val="tx1"/>
                </a:solidFill>
                <a:latin typeface="阿里巴巴普惠体"/>
                <a:ea typeface="字魂58号-创中黑"/>
                <a:cs typeface="+mn-ea"/>
                <a:sym typeface="阿里巴巴普惠体"/>
              </a:rPr>
              <a:t>初始化：随机选择 </a:t>
            </a:r>
            <a:r>
              <a:rPr lang="en-US" altLang="zh-CN" sz="2400">
                <a:solidFill>
                  <a:schemeClr val="tx1"/>
                </a:solidFill>
                <a:latin typeface="阿里巴巴普惠体"/>
                <a:ea typeface="字魂58号-创中黑"/>
                <a:cs typeface="+mn-ea"/>
                <a:sym typeface="阿里巴巴普惠体"/>
              </a:rPr>
              <a:t>K </a:t>
            </a:r>
            <a:r>
              <a:rPr lang="zh-CN" altLang="en-US" sz="2400">
                <a:solidFill>
                  <a:schemeClr val="tx1"/>
                </a:solidFill>
                <a:latin typeface="阿里巴巴普惠体"/>
                <a:ea typeface="字魂58号-创中黑"/>
                <a:cs typeface="+mn-ea"/>
                <a:sym typeface="阿里巴巴普惠体"/>
              </a:rPr>
              <a:t>个数据点作为初始聚类中心</a:t>
            </a:r>
            <a:endParaRPr lang="zh-CN" altLang="en-US" sz="2400">
              <a:solidFill>
                <a:schemeClr val="tx1"/>
              </a:solidFill>
              <a:latin typeface="阿里巴巴普惠体"/>
              <a:ea typeface="字魂58号-创中黑"/>
              <a:cs typeface="+mn-ea"/>
              <a:sym typeface="阿里巴巴普惠体"/>
            </a:endParaRPr>
          </a:p>
          <a:p>
            <a:pPr marL="457200" lvl="1" indent="457200" fontAlgn="base">
              <a:lnSpc>
                <a:spcPct val="150000"/>
              </a:lnSpc>
            </a:pPr>
            <a:r>
              <a:rPr lang="zh-CN" altLang="en-US" sz="2400">
                <a:solidFill>
                  <a:schemeClr val="tx1"/>
                </a:solidFill>
                <a:latin typeface="阿里巴巴普惠体"/>
                <a:ea typeface="字魂58号-创中黑"/>
                <a:cs typeface="+mn-ea"/>
                <a:sym typeface="阿里巴巴普惠体"/>
              </a:rPr>
              <a:t>分配：计算每个数据点到 </a:t>
            </a:r>
            <a:r>
              <a:rPr lang="en-US" altLang="zh-CN" sz="2400">
                <a:solidFill>
                  <a:schemeClr val="tx1"/>
                </a:solidFill>
                <a:latin typeface="阿里巴巴普惠体"/>
                <a:ea typeface="字魂58号-创中黑"/>
                <a:cs typeface="+mn-ea"/>
                <a:sym typeface="阿里巴巴普惠体"/>
              </a:rPr>
              <a:t>K </a:t>
            </a:r>
            <a:r>
              <a:rPr lang="zh-CN" altLang="en-US" sz="2400">
                <a:solidFill>
                  <a:schemeClr val="tx1"/>
                </a:solidFill>
                <a:latin typeface="阿里巴巴普惠体"/>
                <a:ea typeface="字魂58号-创中黑"/>
                <a:cs typeface="+mn-ea"/>
                <a:sym typeface="阿里巴巴普惠体"/>
              </a:rPr>
              <a:t>个中心的距离，将其分配给距离最近的中心所属的簇</a:t>
            </a:r>
            <a:endParaRPr lang="zh-CN" altLang="en-US" sz="2400">
              <a:solidFill>
                <a:schemeClr val="tx1"/>
              </a:solidFill>
              <a:latin typeface="阿里巴巴普惠体"/>
              <a:ea typeface="字魂58号-创中黑"/>
              <a:cs typeface="+mn-ea"/>
              <a:sym typeface="阿里巴巴普惠体"/>
            </a:endParaRPr>
          </a:p>
          <a:p>
            <a:pPr marL="457200" lvl="1" indent="457200" fontAlgn="base">
              <a:lnSpc>
                <a:spcPct val="150000"/>
              </a:lnSpc>
            </a:pPr>
            <a:r>
              <a:rPr lang="zh-CN" altLang="en-US" sz="2400">
                <a:solidFill>
                  <a:schemeClr val="tx1"/>
                </a:solidFill>
                <a:latin typeface="阿里巴巴普惠体"/>
                <a:ea typeface="字魂58号-创中黑"/>
                <a:cs typeface="+mn-ea"/>
                <a:sym typeface="阿里巴巴普惠体"/>
              </a:rPr>
              <a:t>更新：重新计算每个簇内所有数据点的均值，作为新的聚类中心</a:t>
            </a:r>
            <a:endParaRPr lang="zh-CN" altLang="en-US" sz="2400">
              <a:solidFill>
                <a:schemeClr val="tx1"/>
              </a:solidFill>
              <a:latin typeface="阿里巴巴普惠体"/>
              <a:ea typeface="字魂58号-创中黑"/>
              <a:cs typeface="+mn-ea"/>
              <a:sym typeface="阿里巴巴普惠体"/>
            </a:endParaRPr>
          </a:p>
          <a:p>
            <a:pPr marL="457200" lvl="1" indent="457200" fontAlgn="base">
              <a:lnSpc>
                <a:spcPct val="150000"/>
              </a:lnSpc>
            </a:pPr>
            <a:r>
              <a:rPr lang="zh-CN" altLang="en-US" sz="2400">
                <a:solidFill>
                  <a:schemeClr val="tx1"/>
                </a:solidFill>
                <a:latin typeface="阿里巴巴普惠体"/>
                <a:ea typeface="字魂58号-创中黑"/>
                <a:cs typeface="+mn-ea"/>
                <a:sym typeface="阿里巴巴普惠体"/>
              </a:rPr>
              <a:t>迭代：不断重复 "分配" 与 "更新" 步骤，直到中心点不再发生显著变化或达到预设</a:t>
            </a:r>
            <a:r>
              <a:rPr lang="en-US" altLang="zh-CN" sz="2400">
                <a:solidFill>
                  <a:schemeClr val="tx1"/>
                </a:solidFill>
                <a:latin typeface="阿里巴巴普惠体"/>
                <a:ea typeface="字魂58号-创中黑"/>
                <a:cs typeface="+mn-ea"/>
                <a:sym typeface="阿里巴巴普惠体"/>
              </a:rPr>
              <a:t>		</a:t>
            </a:r>
            <a:r>
              <a:rPr lang="zh-CN" altLang="en-US" sz="2400">
                <a:solidFill>
                  <a:schemeClr val="tx1"/>
                </a:solidFill>
                <a:latin typeface="阿里巴巴普惠体"/>
                <a:ea typeface="字魂58号-创中黑"/>
                <a:cs typeface="+mn-ea"/>
                <a:sym typeface="阿里巴巴普惠体"/>
              </a:rPr>
              <a:t>的最大迭代次数</a:t>
            </a:r>
            <a:endParaRPr lang="zh-CN" altLang="en-US" sz="2400">
              <a:solidFill>
                <a:schemeClr val="tx1"/>
              </a:solidFill>
              <a:latin typeface="阿里巴巴普惠体"/>
              <a:ea typeface="字魂58号-创中黑"/>
              <a:cs typeface="+mn-ea"/>
              <a:sym typeface="阿里巴巴普惠体"/>
            </a:endParaRPr>
          </a:p>
          <a:p>
            <a:pPr indent="457200" fontAlgn="base">
              <a:lnSpc>
                <a:spcPct val="150000"/>
              </a:lnSpc>
            </a:pPr>
            <a:r>
              <a:rPr lang="en-US" altLang="zh-CN" sz="2400">
                <a:solidFill>
                  <a:schemeClr val="tx1"/>
                </a:solidFill>
                <a:latin typeface="阿里巴巴普惠体"/>
                <a:ea typeface="字魂58号-创中黑"/>
                <a:cs typeface="+mn-ea"/>
                <a:sym typeface="阿里巴巴普惠体"/>
              </a:rPr>
              <a:t>K-Means </a:t>
            </a:r>
            <a:r>
              <a:rPr lang="zh-CN" altLang="en-US" sz="2400">
                <a:solidFill>
                  <a:schemeClr val="tx1"/>
                </a:solidFill>
                <a:latin typeface="阿里巴巴普惠体"/>
                <a:ea typeface="字魂58号-创中黑"/>
                <a:cs typeface="+mn-ea"/>
                <a:sym typeface="阿里巴巴普惠体"/>
              </a:rPr>
              <a:t>的优化目标是最小化所有数据点到其所属簇中心的平方距离之和（</a:t>
            </a:r>
            <a:r>
              <a:rPr lang="en-US" altLang="zh-CN" sz="2400">
                <a:solidFill>
                  <a:schemeClr val="tx1"/>
                </a:solidFill>
                <a:latin typeface="阿里巴巴普惠体"/>
                <a:ea typeface="字魂58号-创中黑"/>
                <a:cs typeface="+mn-ea"/>
                <a:sym typeface="阿里巴巴普惠体"/>
              </a:rPr>
              <a:t>SSE），</a:t>
            </a:r>
            <a:r>
              <a:rPr lang="zh-CN" altLang="en-US" sz="2400">
                <a:solidFill>
                  <a:schemeClr val="tx1"/>
                </a:solidFill>
                <a:latin typeface="阿里巴巴普惠体"/>
                <a:ea typeface="字魂58号-创中黑"/>
                <a:cs typeface="+mn-ea"/>
                <a:sym typeface="阿里巴巴普惠体"/>
              </a:rPr>
              <a:t>最终让簇内数据点尽可能紧密地围绕在中心周围。</a:t>
            </a:r>
            <a:endParaRPr lang="zh-CN" altLang="en-US" sz="2400">
              <a:solidFill>
                <a:schemeClr val="tx1"/>
              </a:solidFill>
              <a:latin typeface="阿里巴巴普惠体"/>
              <a:ea typeface="字魂58号-创中黑"/>
              <a:cs typeface="+mn-ea"/>
              <a:sym typeface="阿里巴巴普惠体"/>
            </a:endParaRPr>
          </a:p>
        </p:txBody>
      </p:sp>
      <p:sp>
        <p:nvSpPr>
          <p:cNvPr id="3" name="Rectangle 7"/>
          <p:cNvSpPr/>
          <p:nvPr/>
        </p:nvSpPr>
        <p:spPr>
          <a:xfrm>
            <a:off x="2794000" y="297180"/>
            <a:ext cx="6604635" cy="58356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什么是 </a:t>
            </a:r>
            <a:r>
              <a:rPr lang="en-US" altLang="zh-CN" sz="3200" b="1" dirty="0">
                <a:latin typeface="阿里巴巴普惠体"/>
                <a:ea typeface="字魂58号-创中黑"/>
                <a:cs typeface="+mn-ea"/>
                <a:sym typeface="阿里巴巴普惠体"/>
              </a:rPr>
              <a:t>K-Means </a:t>
            </a:r>
            <a:r>
              <a:rPr lang="zh-CN" altLang="en-US" sz="3200" b="1" dirty="0">
                <a:latin typeface="阿里巴巴普惠体"/>
                <a:ea typeface="字魂58号-创中黑"/>
                <a:cs typeface="+mn-ea"/>
                <a:sym typeface="阿里巴巴普惠体"/>
              </a:rPr>
              <a:t>聚类？</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1379220"/>
            <a:ext cx="6096635" cy="4523105"/>
          </a:xfrm>
          <a:prstGeom prst="rect">
            <a:avLst/>
          </a:prstGeom>
          <a:noFill/>
        </p:spPr>
        <p:txBody>
          <a:bodyPr wrap="square" rtlCol="0">
            <a:spAutoFit/>
          </a:bodyPr>
          <a:lstStyle/>
          <a:p>
            <a:pPr indent="457200" fontAlgn="base">
              <a:lnSpc>
                <a:spcPct val="150000"/>
              </a:lnSpc>
            </a:pPr>
            <a:r>
              <a:rPr lang="zh-CN" altLang="en-US" sz="2400">
                <a:solidFill>
                  <a:schemeClr val="tx1"/>
                </a:solidFill>
                <a:latin typeface="黑体" panose="02010609060101010101" charset="-122"/>
                <a:ea typeface="黑体" panose="02010609060101010101" charset="-122"/>
                <a:cs typeface="黑体" panose="02010609060101010101" charset="-122"/>
                <a:sym typeface="阿里巴巴普惠体"/>
              </a:rPr>
              <a:t>鸢尾花（</a:t>
            </a:r>
            <a:r>
              <a:rPr lang="en-US" altLang="zh-CN" sz="2400">
                <a:solidFill>
                  <a:schemeClr val="tx1"/>
                </a:solidFill>
                <a:latin typeface="黑体" panose="02010609060101010101" charset="-122"/>
                <a:ea typeface="黑体" panose="02010609060101010101" charset="-122"/>
                <a:cs typeface="黑体" panose="02010609060101010101" charset="-122"/>
                <a:sym typeface="阿里巴巴普惠体"/>
              </a:rPr>
              <a:t>Iris）</a:t>
            </a:r>
            <a:r>
              <a:rPr lang="zh-CN" altLang="en-US" sz="2400">
                <a:solidFill>
                  <a:schemeClr val="tx1"/>
                </a:solidFill>
                <a:latin typeface="黑体" panose="02010609060101010101" charset="-122"/>
                <a:ea typeface="黑体" panose="02010609060101010101" charset="-122"/>
                <a:cs typeface="黑体" panose="02010609060101010101" charset="-122"/>
                <a:sym typeface="阿里巴巴普惠体"/>
              </a:rPr>
              <a:t>数据集是统计学家罗纳德・费舍尔 1936 年发布的经典机器学习基准数据集。它包含 150 个样本，分为山鸢尾、变色鸢尾、维吉尼亚鸢尾 3 个品种，每个品种 50 个样本。每个样本记录花萼长度、花萼宽度、花瓣长度、花瓣宽度 4 个形态特征（单位：厘米），广泛用于分类、聚类算法的入门教学与性能验证。</a:t>
            </a:r>
            <a:endParaRPr lang="zh-CN" altLang="en-US" sz="2400">
              <a:solidFill>
                <a:schemeClr val="tx1"/>
              </a:solidFill>
              <a:latin typeface="黑体" panose="02010609060101010101" charset="-122"/>
              <a:ea typeface="黑体" panose="02010609060101010101" charset="-122"/>
              <a:cs typeface="黑体" panose="02010609060101010101" charset="-122"/>
              <a:sym typeface="阿里巴巴普惠体"/>
            </a:endParaRPr>
          </a:p>
        </p:txBody>
      </p:sp>
      <p:sp>
        <p:nvSpPr>
          <p:cNvPr id="3" name="Rectangle 7"/>
          <p:cNvSpPr/>
          <p:nvPr/>
        </p:nvSpPr>
        <p:spPr>
          <a:xfrm>
            <a:off x="2794000" y="297180"/>
            <a:ext cx="6604635" cy="58356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鸢尾花数据集</a:t>
            </a:r>
            <a:r>
              <a:rPr lang="zh-CN" altLang="en-US" sz="3200" b="1" dirty="0">
                <a:latin typeface="阿里巴巴普惠体"/>
                <a:ea typeface="字魂58号-创中黑"/>
                <a:cs typeface="+mn-ea"/>
                <a:sym typeface="阿里巴巴普惠体"/>
              </a:rPr>
              <a:t>简介</a:t>
            </a:r>
            <a:endParaRPr lang="zh-CN" altLang="en-US" sz="3200" b="1" dirty="0">
              <a:latin typeface="阿里巴巴普惠体"/>
              <a:ea typeface="字魂58号-创中黑"/>
              <a:cs typeface="+mn-ea"/>
              <a:sym typeface="阿里巴巴普惠体"/>
            </a:endParaRPr>
          </a:p>
        </p:txBody>
      </p:sp>
      <p:pic>
        <p:nvPicPr>
          <p:cNvPr id="4" name="图片 3" descr="7b022e55cd5c8db2a5c120b9062ab97f"/>
          <p:cNvPicPr>
            <a:picLocks noChangeAspect="1"/>
          </p:cNvPicPr>
          <p:nvPr/>
        </p:nvPicPr>
        <p:blipFill>
          <a:blip r:embed="rId1"/>
          <a:srcRect l="16874" r="17395"/>
          <a:stretch>
            <a:fillRect/>
          </a:stretch>
        </p:blipFill>
        <p:spPr>
          <a:xfrm>
            <a:off x="5993765" y="1295400"/>
            <a:ext cx="5916295" cy="4774565"/>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p:nvPr/>
        </p:nvSpPr>
        <p:spPr>
          <a:xfrm>
            <a:off x="2794000" y="297180"/>
            <a:ext cx="6604635" cy="58356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鸢尾花数据集</a:t>
            </a:r>
            <a:r>
              <a:rPr lang="zh-CN" altLang="en-US" sz="3200" b="1" dirty="0">
                <a:latin typeface="阿里巴巴普惠体"/>
                <a:ea typeface="字魂58号-创中黑"/>
                <a:cs typeface="+mn-ea"/>
                <a:sym typeface="阿里巴巴普惠体"/>
              </a:rPr>
              <a:t>简介</a:t>
            </a:r>
            <a:endParaRPr lang="zh-CN" altLang="en-US" sz="3200" b="1" dirty="0">
              <a:latin typeface="阿里巴巴普惠体"/>
              <a:ea typeface="字魂58号-创中黑"/>
              <a:cs typeface="+mn-ea"/>
              <a:sym typeface="阿里巴巴普惠体"/>
            </a:endParaRPr>
          </a:p>
        </p:txBody>
      </p:sp>
      <p:pic>
        <p:nvPicPr>
          <p:cNvPr id="2" name="图片 1" descr="967446cfceeedd9b78d761561aee9b05"/>
          <p:cNvPicPr>
            <a:picLocks noChangeAspect="1"/>
          </p:cNvPicPr>
          <p:nvPr/>
        </p:nvPicPr>
        <p:blipFill>
          <a:blip r:embed="rId1"/>
          <a:srcRect l="16938" r="16507"/>
          <a:stretch>
            <a:fillRect/>
          </a:stretch>
        </p:blipFill>
        <p:spPr>
          <a:xfrm>
            <a:off x="0" y="1721485"/>
            <a:ext cx="6058535" cy="4828540"/>
          </a:xfrm>
          <a:prstGeom prst="rect">
            <a:avLst/>
          </a:prstGeom>
        </p:spPr>
      </p:pic>
      <p:pic>
        <p:nvPicPr>
          <p:cNvPr id="5" name="图片 4" descr="78006b8c188c02e712b181d3397a0b66"/>
          <p:cNvPicPr>
            <a:picLocks noChangeAspect="1"/>
          </p:cNvPicPr>
          <p:nvPr/>
        </p:nvPicPr>
        <p:blipFill>
          <a:blip r:embed="rId2"/>
          <a:srcRect l="17200" r="16241"/>
          <a:stretch>
            <a:fillRect/>
          </a:stretch>
        </p:blipFill>
        <p:spPr>
          <a:xfrm>
            <a:off x="6058535" y="1721485"/>
            <a:ext cx="6102350" cy="4863465"/>
          </a:xfrm>
          <a:prstGeom prst="rect">
            <a:avLst/>
          </a:prstGeom>
        </p:spPr>
      </p:pic>
      <p:sp>
        <p:nvSpPr>
          <p:cNvPr id="6" name="TextBox 9"/>
          <p:cNvSpPr txBox="1"/>
          <p:nvPr/>
        </p:nvSpPr>
        <p:spPr>
          <a:xfrm>
            <a:off x="140970" y="978535"/>
            <a:ext cx="6292850" cy="645160"/>
          </a:xfrm>
          <a:prstGeom prst="rect">
            <a:avLst/>
          </a:prstGeom>
          <a:noFill/>
        </p:spPr>
        <p:txBody>
          <a:bodyPr wrap="square" rtlCol="0">
            <a:spAutoFit/>
          </a:bodyPr>
          <a:lstStyle/>
          <a:p>
            <a:pPr indent="457200" fontAlgn="base">
              <a:lnSpc>
                <a:spcPct val="150000"/>
              </a:lnSpc>
            </a:pPr>
            <a:r>
              <a:rPr lang="zh-CN" altLang="en-US" sz="2400">
                <a:solidFill>
                  <a:schemeClr val="tx1"/>
                </a:solidFill>
                <a:latin typeface="阿里巴巴普惠体"/>
                <a:ea typeface="字魂58号-创中黑"/>
                <a:cs typeface="+mn-ea"/>
                <a:sym typeface="阿里巴巴普惠体"/>
              </a:rPr>
              <a:t>运行</a:t>
            </a:r>
            <a:r>
              <a:rPr lang="zh-CN" altLang="en-US" sz="2400">
                <a:solidFill>
                  <a:schemeClr val="tx1"/>
                </a:solidFill>
                <a:latin typeface="阿里巴巴普惠体"/>
                <a:ea typeface="字魂58号-创中黑"/>
                <a:cs typeface="+mn-ea"/>
                <a:sym typeface="阿里巴巴普惠体"/>
              </a:rPr>
              <a:t>代码：</a:t>
            </a:r>
            <a:endParaRPr lang="zh-CN" altLang="en-US" sz="2400">
              <a:solidFill>
                <a:schemeClr val="tx1"/>
              </a:solidFill>
              <a:latin typeface="阿里巴巴普惠体"/>
              <a:ea typeface="字魂58号-创中黑"/>
              <a:cs typeface="+mn-ea"/>
              <a:sym typeface="阿里巴巴普惠体"/>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40970" y="1226820"/>
            <a:ext cx="6292850" cy="5631180"/>
          </a:xfrm>
          <a:prstGeom prst="rect">
            <a:avLst/>
          </a:prstGeom>
          <a:noFill/>
        </p:spPr>
        <p:txBody>
          <a:bodyPr wrap="square" rtlCol="0">
            <a:spAutoFit/>
          </a:bodyPr>
          <a:lstStyle/>
          <a:p>
            <a:pPr indent="457200" fontAlgn="base">
              <a:lnSpc>
                <a:spcPct val="150000"/>
              </a:lnSpc>
            </a:pPr>
            <a:r>
              <a:rPr lang="zh-CN" altLang="en-US" sz="2400">
                <a:solidFill>
                  <a:schemeClr val="tx1"/>
                </a:solidFill>
                <a:latin typeface="阿里巴巴普惠体"/>
                <a:ea typeface="字魂58号-创中黑"/>
                <a:cs typeface="+mn-ea"/>
                <a:sym typeface="阿里巴巴普惠体"/>
              </a:rPr>
              <a:t>将原代码中选取花瓣数据的部分改为</a:t>
            </a:r>
            <a:r>
              <a:rPr lang="en-US" altLang="zh-CN" sz="2400">
                <a:solidFill>
                  <a:schemeClr val="tx1"/>
                </a:solidFill>
                <a:latin typeface="阿里巴巴普惠体"/>
                <a:ea typeface="字魂58号-创中黑"/>
                <a:cs typeface="+mn-ea"/>
                <a:sym typeface="阿里巴巴普惠体"/>
              </a:rPr>
              <a:t>X_sepal = iris.data[:, 0:2]，</a:t>
            </a:r>
            <a:r>
              <a:rPr lang="zh-CN" altLang="en-US" sz="2400">
                <a:solidFill>
                  <a:schemeClr val="tx1"/>
                </a:solidFill>
                <a:latin typeface="阿里巴巴普惠体"/>
                <a:ea typeface="字魂58号-创中黑"/>
                <a:cs typeface="+mn-ea"/>
                <a:sym typeface="阿里巴巴普惠体"/>
              </a:rPr>
              <a:t>即可提取花萼长度（第 0 列）和花萼宽度（第 1 列）两个特征进行聚类。后续步骤保持不变，创建</a:t>
            </a:r>
            <a:r>
              <a:rPr lang="en-US" altLang="zh-CN" sz="2400">
                <a:solidFill>
                  <a:schemeClr val="tx1"/>
                </a:solidFill>
                <a:latin typeface="阿里巴巴普惠体"/>
                <a:ea typeface="字魂58号-创中黑"/>
                <a:cs typeface="+mn-ea"/>
                <a:sym typeface="阿里巴巴普惠体"/>
              </a:rPr>
              <a:t>n_clusters=3</a:t>
            </a:r>
            <a:r>
              <a:rPr lang="zh-CN" altLang="en-US" sz="2400">
                <a:solidFill>
                  <a:schemeClr val="tx1"/>
                </a:solidFill>
                <a:latin typeface="阿里巴巴普惠体"/>
                <a:ea typeface="字魂58号-创中黑"/>
                <a:cs typeface="+mn-ea"/>
                <a:sym typeface="阿里巴巴普惠体"/>
              </a:rPr>
              <a:t>的 </a:t>
            </a:r>
            <a:r>
              <a:rPr lang="en-US" altLang="zh-CN" sz="2400">
                <a:solidFill>
                  <a:schemeClr val="tx1"/>
                </a:solidFill>
                <a:latin typeface="阿里巴巴普惠体"/>
                <a:ea typeface="字魂58号-创中黑"/>
                <a:cs typeface="+mn-ea"/>
                <a:sym typeface="阿里巴巴普惠体"/>
              </a:rPr>
              <a:t>KMeans </a:t>
            </a:r>
            <a:r>
              <a:rPr lang="zh-CN" altLang="en-US" sz="2400">
                <a:solidFill>
                  <a:schemeClr val="tx1"/>
                </a:solidFill>
                <a:latin typeface="阿里巴巴普惠体"/>
                <a:ea typeface="字魂58号-创中黑"/>
                <a:cs typeface="+mn-ea"/>
                <a:sym typeface="阿里巴巴普惠体"/>
              </a:rPr>
              <a:t>模型并训练，通过</a:t>
            </a:r>
            <a:r>
              <a:rPr lang="en-US" altLang="zh-CN" sz="2400">
                <a:solidFill>
                  <a:schemeClr val="tx1"/>
                </a:solidFill>
                <a:latin typeface="阿里巴巴普惠体"/>
                <a:ea typeface="字魂58号-创中黑"/>
                <a:cs typeface="+mn-ea"/>
                <a:sym typeface="阿里巴巴普惠体"/>
              </a:rPr>
              <a:t>labels_</a:t>
            </a:r>
            <a:r>
              <a:rPr lang="zh-CN" altLang="en-US" sz="2400">
                <a:solidFill>
                  <a:schemeClr val="tx1"/>
                </a:solidFill>
                <a:latin typeface="阿里巴巴普惠体"/>
                <a:ea typeface="字魂58号-创中黑"/>
                <a:cs typeface="+mn-ea"/>
                <a:sym typeface="阿里巴巴普惠体"/>
              </a:rPr>
              <a:t>属性获取每个样本的簇标签，最后用散点图分别绘制三个簇。与花瓣特征聚类相比，花萼特征的区分度稍低，三个簇之间的边界会有更多重叠，因为不同鸢尾花品种的花萼形态差异不如花瓣显著。</a:t>
            </a:r>
            <a:endParaRPr lang="zh-CN" altLang="en-US" sz="2400">
              <a:solidFill>
                <a:schemeClr val="tx1"/>
              </a:solidFill>
              <a:latin typeface="阿里巴巴普惠体"/>
              <a:ea typeface="字魂58号-创中黑"/>
              <a:cs typeface="+mn-ea"/>
              <a:sym typeface="阿里巴巴普惠体"/>
            </a:endParaRPr>
          </a:p>
        </p:txBody>
      </p:sp>
      <p:sp>
        <p:nvSpPr>
          <p:cNvPr id="3" name="Rectangle 7"/>
          <p:cNvSpPr/>
          <p:nvPr/>
        </p:nvSpPr>
        <p:spPr>
          <a:xfrm>
            <a:off x="3086100" y="297180"/>
            <a:ext cx="5276215" cy="107632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用花萼（第一0列和第二1列）的数据来聚类的</a:t>
            </a:r>
            <a:r>
              <a:rPr lang="zh-CN" altLang="en-US" sz="3200" b="1" dirty="0">
                <a:latin typeface="阿里巴巴普惠体"/>
                <a:ea typeface="字魂58号-创中黑"/>
                <a:cs typeface="+mn-ea"/>
                <a:sym typeface="阿里巴巴普惠体"/>
              </a:rPr>
              <a:t>结果</a:t>
            </a:r>
            <a:endParaRPr lang="zh-CN" altLang="en-US" sz="3200" b="1" dirty="0">
              <a:latin typeface="阿里巴巴普惠体"/>
              <a:ea typeface="字魂58号-创中黑"/>
              <a:cs typeface="+mn-ea"/>
              <a:sym typeface="阿里巴巴普惠体"/>
            </a:endParaRPr>
          </a:p>
        </p:txBody>
      </p:sp>
      <p:pic>
        <p:nvPicPr>
          <p:cNvPr id="2" name="图片 1" descr="44f36bad7106ca55d2f0231aaea5ba5f"/>
          <p:cNvPicPr>
            <a:picLocks noChangeAspect="1"/>
          </p:cNvPicPr>
          <p:nvPr/>
        </p:nvPicPr>
        <p:blipFill>
          <a:blip r:embed="rId1"/>
          <a:srcRect r="5023"/>
          <a:stretch>
            <a:fillRect/>
          </a:stretch>
        </p:blipFill>
        <p:spPr>
          <a:xfrm>
            <a:off x="6433820" y="1663065"/>
            <a:ext cx="5570855" cy="4029710"/>
          </a:xfrm>
          <a:prstGeom prst="rect">
            <a:avLst/>
          </a:prstGeom>
          <a:ln>
            <a:solidFill>
              <a:schemeClr val="bg1"/>
            </a:solidFill>
          </a:ln>
          <a:effectLst>
            <a:softEdge rad="31750"/>
          </a:effec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75565" y="806450"/>
            <a:ext cx="5721985" cy="6116955"/>
          </a:xfrm>
          <a:prstGeom prst="rect">
            <a:avLst/>
          </a:prstGeom>
          <a:noFill/>
        </p:spPr>
        <p:txBody>
          <a:bodyPr wrap="square" rtlCol="0">
            <a:noAutofit/>
          </a:bodyPr>
          <a:lstStyle/>
          <a:p>
            <a:pPr fontAlgn="base">
              <a:lnSpc>
                <a:spcPct val="150000"/>
              </a:lnSpc>
            </a:pPr>
            <a:r>
              <a:rPr lang="zh-CN" altLang="en-US" sz="2400">
                <a:solidFill>
                  <a:schemeClr val="tx1"/>
                </a:solidFill>
                <a:latin typeface="阿里巴巴普惠体"/>
                <a:ea typeface="字魂58号-创中黑"/>
                <a:cs typeface="+mn-ea"/>
                <a:sym typeface="阿里巴巴普惠体"/>
              </a:rPr>
              <a:t>使用全部 4 个特征（花萼长、花萼宽、花瓣长、花瓣宽）进行聚类时，代码修改为</a:t>
            </a:r>
            <a:r>
              <a:rPr lang="en-US" altLang="zh-CN" sz="2400">
                <a:solidFill>
                  <a:schemeClr val="tx1"/>
                </a:solidFill>
                <a:latin typeface="阿里巴巴普惠体"/>
                <a:ea typeface="字魂58号-创中黑"/>
                <a:cs typeface="+mn-ea"/>
                <a:sym typeface="阿里巴巴普惠体"/>
              </a:rPr>
              <a:t>X_all = iris.data，</a:t>
            </a:r>
            <a:r>
              <a:rPr lang="zh-CN" altLang="en-US" sz="2400">
                <a:solidFill>
                  <a:schemeClr val="tx1"/>
                </a:solidFill>
                <a:latin typeface="阿里巴巴普惠体"/>
                <a:ea typeface="字魂58号-创中黑"/>
                <a:cs typeface="+mn-ea"/>
                <a:sym typeface="阿里巴巴普惠体"/>
              </a:rPr>
              <a:t>同时建议显式设置</a:t>
            </a:r>
            <a:r>
              <a:rPr lang="en-US" altLang="zh-CN" sz="2400">
                <a:solidFill>
                  <a:schemeClr val="tx1"/>
                </a:solidFill>
                <a:latin typeface="阿里巴巴普惠体"/>
                <a:ea typeface="字魂58号-创中黑"/>
                <a:cs typeface="+mn-ea"/>
                <a:sym typeface="阿里巴巴普惠体"/>
              </a:rPr>
              <a:t>n_init=10</a:t>
            </a:r>
            <a:r>
              <a:rPr lang="zh-CN" altLang="en-US" sz="2400">
                <a:solidFill>
                  <a:schemeClr val="tx1"/>
                </a:solidFill>
                <a:latin typeface="阿里巴巴普惠体"/>
                <a:ea typeface="字魂58号-创中黑"/>
                <a:cs typeface="+mn-ea"/>
                <a:sym typeface="阿里巴巴普惠体"/>
              </a:rPr>
              <a:t>以消除版本警告。由于利用了鸢尾花的全部形态信息，聚类结果会更接近真实的品种分类。虽然四维数据无法直接在二维平面可视化，但可以通过对比真实标签计算聚类准确率，或使用 </a:t>
            </a:r>
            <a:r>
              <a:rPr lang="en-US" altLang="zh-CN" sz="2400">
                <a:solidFill>
                  <a:schemeClr val="tx1"/>
                </a:solidFill>
                <a:latin typeface="阿里巴巴普惠体"/>
                <a:ea typeface="字魂58号-创中黑"/>
                <a:cs typeface="+mn-ea"/>
                <a:sym typeface="阿里巴巴普惠体"/>
              </a:rPr>
              <a:t>PCA </a:t>
            </a:r>
            <a:r>
              <a:rPr lang="zh-CN" altLang="en-US" sz="2400">
                <a:solidFill>
                  <a:schemeClr val="tx1"/>
                </a:solidFill>
                <a:latin typeface="阿里巴巴普惠体"/>
                <a:ea typeface="字魂58号-创中黑"/>
                <a:cs typeface="+mn-ea"/>
                <a:sym typeface="阿里巴巴普惠体"/>
              </a:rPr>
              <a:t>降维后绘图。结果显示，使用全部特征的聚类效果明显优于只用两列特征，能够更准确地区分三个品种。</a:t>
            </a:r>
            <a:endParaRPr lang="zh-CN" altLang="en-US" sz="2400">
              <a:solidFill>
                <a:schemeClr val="tx1"/>
              </a:solidFill>
              <a:latin typeface="阿里巴巴普惠体"/>
              <a:ea typeface="字魂58号-创中黑"/>
              <a:cs typeface="+mn-ea"/>
              <a:sym typeface="阿里巴巴普惠体"/>
            </a:endParaRPr>
          </a:p>
        </p:txBody>
      </p:sp>
      <p:sp>
        <p:nvSpPr>
          <p:cNvPr id="3" name="Rectangle 7"/>
          <p:cNvSpPr/>
          <p:nvPr/>
        </p:nvSpPr>
        <p:spPr>
          <a:xfrm>
            <a:off x="2448560" y="297180"/>
            <a:ext cx="7294880" cy="58356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用所有数据来聚类（所有4列）的</a:t>
            </a:r>
            <a:r>
              <a:rPr lang="zh-CN" altLang="en-US" sz="3200" b="1" dirty="0">
                <a:latin typeface="阿里巴巴普惠体"/>
                <a:ea typeface="字魂58号-创中黑"/>
                <a:cs typeface="+mn-ea"/>
                <a:sym typeface="阿里巴巴普惠体"/>
              </a:rPr>
              <a:t>结果</a:t>
            </a:r>
            <a:endParaRPr lang="zh-CN" altLang="en-US" sz="3200" b="1" dirty="0">
              <a:latin typeface="阿里巴巴普惠体"/>
              <a:ea typeface="字魂58号-创中黑"/>
              <a:cs typeface="+mn-ea"/>
              <a:sym typeface="阿里巴巴普惠体"/>
            </a:endParaRPr>
          </a:p>
        </p:txBody>
      </p:sp>
      <p:pic>
        <p:nvPicPr>
          <p:cNvPr id="2" name="图片 1" descr="2974b4533c03ca0f42e19b732d6dae54"/>
          <p:cNvPicPr>
            <a:picLocks noChangeAspect="1"/>
          </p:cNvPicPr>
          <p:nvPr/>
        </p:nvPicPr>
        <p:blipFill>
          <a:blip r:embed="rId1"/>
          <a:srcRect r="5543"/>
          <a:stretch>
            <a:fillRect/>
          </a:stretch>
        </p:blipFill>
        <p:spPr>
          <a:xfrm>
            <a:off x="5962015" y="1557655"/>
            <a:ext cx="5745480" cy="404177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880745"/>
            <a:ext cx="6378575" cy="5631180"/>
          </a:xfrm>
          <a:prstGeom prst="rect">
            <a:avLst/>
          </a:prstGeom>
          <a:noFill/>
        </p:spPr>
        <p:txBody>
          <a:bodyPr wrap="square" rtlCol="0">
            <a:spAutoFit/>
          </a:bodyPr>
          <a:lstStyle/>
          <a:p>
            <a:pPr indent="457200" fontAlgn="base">
              <a:lnSpc>
                <a:spcPct val="150000"/>
              </a:lnSpc>
            </a:pPr>
            <a:r>
              <a:rPr lang="zh-CN" altLang="en-US" sz="2400">
                <a:solidFill>
                  <a:schemeClr val="tx1"/>
                </a:solidFill>
                <a:latin typeface="阿里巴巴普惠体"/>
                <a:ea typeface="字魂58号-创中黑"/>
                <a:cs typeface="+mn-ea"/>
                <a:sym typeface="阿里巴巴普惠体"/>
              </a:rPr>
              <a:t>将模型参数改为</a:t>
            </a:r>
            <a:r>
              <a:rPr lang="en-US" altLang="zh-CN" sz="2400">
                <a:solidFill>
                  <a:schemeClr val="tx1"/>
                </a:solidFill>
                <a:latin typeface="阿里巴巴普惠体"/>
                <a:ea typeface="字魂58号-创中黑"/>
                <a:cs typeface="+mn-ea"/>
                <a:sym typeface="阿里巴巴普惠体"/>
              </a:rPr>
              <a:t>KMeans(n_clusters=2, n_init=10)</a:t>
            </a:r>
            <a:r>
              <a:rPr lang="zh-CN" altLang="en-US" sz="2400">
                <a:solidFill>
                  <a:schemeClr val="tx1"/>
                </a:solidFill>
                <a:latin typeface="阿里巴巴普惠体"/>
                <a:ea typeface="字魂58号-创中黑"/>
                <a:cs typeface="+mn-ea"/>
                <a:sym typeface="阿里巴巴普惠体"/>
              </a:rPr>
              <a:t>即可实现 </a:t>
            </a:r>
            <a:r>
              <a:rPr lang="en-US" altLang="zh-CN" sz="2400">
                <a:solidFill>
                  <a:schemeClr val="tx1"/>
                </a:solidFill>
                <a:latin typeface="阿里巴巴普惠体"/>
                <a:ea typeface="字魂58号-创中黑"/>
                <a:cs typeface="+mn-ea"/>
                <a:sym typeface="阿里巴巴普惠体"/>
              </a:rPr>
              <a:t>K=2 </a:t>
            </a:r>
            <a:r>
              <a:rPr lang="zh-CN" altLang="en-US" sz="2400">
                <a:solidFill>
                  <a:schemeClr val="tx1"/>
                </a:solidFill>
                <a:latin typeface="阿里巴巴普惠体"/>
                <a:ea typeface="字魂58号-创中黑"/>
                <a:cs typeface="+mn-ea"/>
                <a:sym typeface="阿里巴巴普惠体"/>
              </a:rPr>
              <a:t>的聚类。训练后会得到两个簇，通常会将原数据中差异较小的变色鸢尾和维吉尼亚鸢尾合并为一个簇，而与差异最大的山鸢尾分开。可视化后可以看到两个边界清晰的分组，一个是明显独立的山鸢尾簇，另一个是后两个品种的混合簇。这一结果说明 </a:t>
            </a:r>
            <a:r>
              <a:rPr lang="en-US" altLang="zh-CN" sz="2400">
                <a:solidFill>
                  <a:schemeClr val="tx1"/>
                </a:solidFill>
                <a:latin typeface="阿里巴巴普惠体"/>
                <a:ea typeface="字魂58号-创中黑"/>
                <a:cs typeface="+mn-ea"/>
                <a:sym typeface="阿里巴巴普惠体"/>
              </a:rPr>
              <a:t>K </a:t>
            </a:r>
            <a:r>
              <a:rPr lang="zh-CN" altLang="en-US" sz="2400">
                <a:solidFill>
                  <a:schemeClr val="tx1"/>
                </a:solidFill>
                <a:latin typeface="阿里巴巴普惠体"/>
                <a:ea typeface="字魂58号-创中黑"/>
                <a:cs typeface="+mn-ea"/>
                <a:sym typeface="阿里巴巴普惠体"/>
              </a:rPr>
              <a:t>值的选择对聚类效果至关重要，</a:t>
            </a:r>
            <a:r>
              <a:rPr lang="en-US" altLang="zh-CN" sz="2400">
                <a:solidFill>
                  <a:schemeClr val="tx1"/>
                </a:solidFill>
                <a:latin typeface="阿里巴巴普惠体"/>
                <a:ea typeface="字魂58号-创中黑"/>
                <a:cs typeface="+mn-ea"/>
                <a:sym typeface="阿里巴巴普惠体"/>
              </a:rPr>
              <a:t>K=2 </a:t>
            </a:r>
            <a:r>
              <a:rPr lang="zh-CN" altLang="en-US" sz="2400">
                <a:solidFill>
                  <a:schemeClr val="tx1"/>
                </a:solidFill>
                <a:latin typeface="阿里巴巴普惠体"/>
                <a:ea typeface="字魂58号-创中黑"/>
                <a:cs typeface="+mn-ea"/>
                <a:sym typeface="阿里巴巴普惠体"/>
              </a:rPr>
              <a:t>无法完全揭示数据的真实结构，而 </a:t>
            </a:r>
            <a:r>
              <a:rPr lang="en-US" altLang="zh-CN" sz="2400">
                <a:solidFill>
                  <a:schemeClr val="tx1"/>
                </a:solidFill>
                <a:latin typeface="阿里巴巴普惠体"/>
                <a:ea typeface="字魂58号-创中黑"/>
                <a:cs typeface="+mn-ea"/>
                <a:sym typeface="阿里巴巴普惠体"/>
              </a:rPr>
              <a:t>K=3 </a:t>
            </a:r>
            <a:r>
              <a:rPr lang="zh-CN" altLang="en-US" sz="2400">
                <a:solidFill>
                  <a:schemeClr val="tx1"/>
                </a:solidFill>
                <a:latin typeface="阿里巴巴普惠体"/>
                <a:ea typeface="字魂58号-创中黑"/>
                <a:cs typeface="+mn-ea"/>
                <a:sym typeface="阿里巴巴普惠体"/>
              </a:rPr>
              <a:t>更符合鸢尾花数据集的天然类别划分。</a:t>
            </a:r>
            <a:endParaRPr lang="zh-CN" altLang="en-US" sz="2400">
              <a:solidFill>
                <a:schemeClr val="tx1"/>
              </a:solidFill>
              <a:latin typeface="阿里巴巴普惠体"/>
              <a:ea typeface="字魂58号-创中黑"/>
              <a:cs typeface="+mn-ea"/>
              <a:sym typeface="阿里巴巴普惠体"/>
            </a:endParaRPr>
          </a:p>
        </p:txBody>
      </p:sp>
      <p:sp>
        <p:nvSpPr>
          <p:cNvPr id="3" name="Rectangle 7"/>
          <p:cNvSpPr/>
          <p:nvPr/>
        </p:nvSpPr>
        <p:spPr>
          <a:xfrm>
            <a:off x="2794000" y="297180"/>
            <a:ext cx="6604635" cy="58356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将</a:t>
            </a:r>
            <a:r>
              <a:rPr lang="en-US" altLang="zh-CN" sz="3200" b="1" dirty="0">
                <a:latin typeface="阿里巴巴普惠体"/>
                <a:ea typeface="字魂58号-创中黑"/>
                <a:cs typeface="+mn-ea"/>
                <a:sym typeface="阿里巴巴普惠体"/>
              </a:rPr>
              <a:t>K=3</a:t>
            </a:r>
            <a:r>
              <a:rPr lang="zh-CN" altLang="en-US" sz="3200" b="1" dirty="0">
                <a:latin typeface="阿里巴巴普惠体"/>
                <a:ea typeface="字魂58号-创中黑"/>
                <a:cs typeface="+mn-ea"/>
                <a:sym typeface="阿里巴巴普惠体"/>
              </a:rPr>
              <a:t>改为</a:t>
            </a:r>
            <a:r>
              <a:rPr lang="en-US" altLang="zh-CN" sz="3200" b="1" dirty="0">
                <a:latin typeface="阿里巴巴普惠体"/>
                <a:ea typeface="字魂58号-创中黑"/>
                <a:cs typeface="+mn-ea"/>
                <a:sym typeface="阿里巴巴普惠体"/>
              </a:rPr>
              <a:t>K=</a:t>
            </a:r>
            <a:r>
              <a:rPr lang="zh-CN" altLang="en-US" sz="3200" b="1" dirty="0">
                <a:latin typeface="阿里巴巴普惠体"/>
                <a:ea typeface="字魂58号-创中黑"/>
                <a:cs typeface="+mn-ea"/>
                <a:sym typeface="阿里巴巴普惠体"/>
              </a:rPr>
              <a:t>2的</a:t>
            </a:r>
            <a:r>
              <a:rPr lang="zh-CN" altLang="en-US" sz="3200" b="1" dirty="0">
                <a:latin typeface="阿里巴巴普惠体"/>
                <a:ea typeface="字魂58号-创中黑"/>
                <a:cs typeface="+mn-ea"/>
                <a:sym typeface="阿里巴巴普惠体"/>
              </a:rPr>
              <a:t>结果</a:t>
            </a:r>
            <a:endParaRPr lang="zh-CN" altLang="en-US" sz="3200" b="1" dirty="0">
              <a:latin typeface="阿里巴巴普惠体"/>
              <a:ea typeface="字魂58号-创中黑"/>
              <a:cs typeface="+mn-ea"/>
              <a:sym typeface="阿里巴巴普惠体"/>
            </a:endParaRPr>
          </a:p>
        </p:txBody>
      </p:sp>
      <p:pic>
        <p:nvPicPr>
          <p:cNvPr id="2" name="图片 1" descr="5ede1bde4e05d46a14909db470dac6a3"/>
          <p:cNvPicPr>
            <a:picLocks noChangeAspect="1"/>
          </p:cNvPicPr>
          <p:nvPr/>
        </p:nvPicPr>
        <p:blipFill>
          <a:blip r:embed="rId1"/>
          <a:stretch>
            <a:fillRect/>
          </a:stretch>
        </p:blipFill>
        <p:spPr>
          <a:xfrm>
            <a:off x="6445250" y="1724025"/>
            <a:ext cx="5746750" cy="3944620"/>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95605" y="1521460"/>
            <a:ext cx="11401425" cy="4523105"/>
          </a:xfrm>
          <a:prstGeom prst="rect">
            <a:avLst/>
          </a:prstGeom>
          <a:noFill/>
        </p:spPr>
        <p:txBody>
          <a:bodyPr wrap="square" rtlCol="0">
            <a:spAutoFit/>
          </a:bodyPr>
          <a:lstStyle/>
          <a:p>
            <a:pPr indent="457200" fontAlgn="base">
              <a:lnSpc>
                <a:spcPct val="150000"/>
              </a:lnSpc>
            </a:pPr>
            <a:r>
              <a:rPr lang="zh-CN" altLang="en-US" sz="2400">
                <a:solidFill>
                  <a:schemeClr val="tx1"/>
                </a:solidFill>
                <a:latin typeface="阿里巴巴普惠体"/>
                <a:ea typeface="字魂58号-创中黑"/>
                <a:cs typeface="+mn-ea"/>
                <a:sym typeface="阿里巴巴普惠体"/>
              </a:rPr>
              <a:t>聚类中心是 </a:t>
            </a:r>
            <a:r>
              <a:rPr lang="en-US" altLang="zh-CN" sz="2400">
                <a:solidFill>
                  <a:schemeClr val="tx1"/>
                </a:solidFill>
                <a:latin typeface="阿里巴巴普惠体"/>
                <a:ea typeface="字魂58号-创中黑"/>
                <a:cs typeface="+mn-ea"/>
                <a:sym typeface="阿里巴巴普惠体"/>
              </a:rPr>
              <a:t>K-Means </a:t>
            </a:r>
            <a:r>
              <a:rPr lang="zh-CN" altLang="en-US" sz="2400">
                <a:solidFill>
                  <a:schemeClr val="tx1"/>
                </a:solidFill>
                <a:latin typeface="阿里巴巴普惠体"/>
                <a:ea typeface="字魂58号-创中黑"/>
                <a:cs typeface="+mn-ea"/>
                <a:sym typeface="阿里巴巴普惠体"/>
              </a:rPr>
              <a:t>算法最具解释性的核心输出，代表每个簇的典型特征，是簇内所有样本特征的均值。在本案例中，训练完 </a:t>
            </a:r>
            <a:r>
              <a:rPr lang="en-US" altLang="zh-CN" sz="2400">
                <a:solidFill>
                  <a:schemeClr val="tx1"/>
                </a:solidFill>
                <a:latin typeface="阿里巴巴普惠体"/>
                <a:ea typeface="字魂58号-创中黑"/>
                <a:cs typeface="+mn-ea"/>
                <a:sym typeface="阿里巴巴普惠体"/>
              </a:rPr>
              <a:t>KMeans </a:t>
            </a:r>
            <a:r>
              <a:rPr lang="zh-CN" altLang="en-US" sz="2400">
                <a:solidFill>
                  <a:schemeClr val="tx1"/>
                </a:solidFill>
                <a:latin typeface="阿里巴巴普惠体"/>
                <a:ea typeface="字魂58号-创中黑"/>
                <a:cs typeface="+mn-ea"/>
                <a:sym typeface="阿里巴巴普惠体"/>
              </a:rPr>
              <a:t>模型后，通过</a:t>
            </a:r>
            <a:r>
              <a:rPr lang="en-US" altLang="zh-CN" sz="2400">
                <a:solidFill>
                  <a:schemeClr val="tx1"/>
                </a:solidFill>
                <a:latin typeface="阿里巴巴普惠体"/>
                <a:ea typeface="字魂58号-创中黑"/>
                <a:cs typeface="+mn-ea"/>
                <a:sym typeface="阿里巴巴普惠体"/>
              </a:rPr>
              <a:t>estimator.cluster_centers_</a:t>
            </a:r>
            <a:r>
              <a:rPr lang="zh-CN" altLang="en-US" sz="2400">
                <a:solidFill>
                  <a:schemeClr val="tx1"/>
                </a:solidFill>
                <a:latin typeface="阿里巴巴普惠体"/>
                <a:ea typeface="字魂58号-创中黑"/>
                <a:cs typeface="+mn-ea"/>
                <a:sym typeface="阿里巴巴普惠体"/>
              </a:rPr>
              <a:t>属性即可获取三个簇的花瓣特征中心坐标，打印输出为 [1.462, 0.246]、[4.293, 1.359] 和 [5.627, 2.047]。可视化时使用黑色大叉标记中心点，使其在散点图中清晰突出。这些中心分别对应山鸢尾、变色鸢尾和维吉尼亚鸢尾的典型花瓣形态，与真实生物学特征完全吻合。聚类中心将抽象的聚类结果转化为量化的特征描述，不仅验证了花瓣特征的高区分度，还让我们能直观理解每个类别的核心属性，大幅增强了分析结果的说服力和可解释性。</a:t>
            </a:r>
            <a:endParaRPr lang="zh-CN" altLang="en-US" sz="2400">
              <a:solidFill>
                <a:schemeClr val="tx1"/>
              </a:solidFill>
              <a:latin typeface="阿里巴巴普惠体"/>
              <a:ea typeface="字魂58号-创中黑"/>
              <a:cs typeface="+mn-ea"/>
              <a:sym typeface="阿里巴巴普惠体"/>
            </a:endParaRPr>
          </a:p>
        </p:txBody>
      </p:sp>
      <p:sp>
        <p:nvSpPr>
          <p:cNvPr id="3" name="Rectangle 7"/>
          <p:cNvSpPr/>
          <p:nvPr/>
        </p:nvSpPr>
        <p:spPr>
          <a:xfrm>
            <a:off x="2794000" y="297180"/>
            <a:ext cx="6604635" cy="107632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查考资料，分析该案例，聚类的其他输出可视化聚类中心。</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p:nvPr/>
        </p:nvSpPr>
        <p:spPr>
          <a:xfrm>
            <a:off x="2794000" y="99695"/>
            <a:ext cx="6604635" cy="107632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查考资料，分析该案例，聚类的其他输出可视化聚类中心。</a:t>
            </a:r>
            <a:endParaRPr lang="zh-CN" altLang="en-US" sz="3200" b="1" dirty="0">
              <a:latin typeface="阿里巴巴普惠体"/>
              <a:ea typeface="字魂58号-创中黑"/>
              <a:cs typeface="+mn-ea"/>
              <a:sym typeface="阿里巴巴普惠体"/>
            </a:endParaRPr>
          </a:p>
        </p:txBody>
      </p:sp>
      <p:pic>
        <p:nvPicPr>
          <p:cNvPr id="2" name="图片 1" descr="122e878deeac7776d5c1d183a3e12f97"/>
          <p:cNvPicPr>
            <a:picLocks noChangeAspect="1"/>
          </p:cNvPicPr>
          <p:nvPr/>
        </p:nvPicPr>
        <p:blipFill>
          <a:blip r:embed="rId1"/>
          <a:stretch>
            <a:fillRect/>
          </a:stretch>
        </p:blipFill>
        <p:spPr>
          <a:xfrm>
            <a:off x="6957695" y="1176020"/>
            <a:ext cx="4713605" cy="5681980"/>
          </a:xfrm>
          <a:prstGeom prst="rect">
            <a:avLst/>
          </a:prstGeom>
        </p:spPr>
      </p:pic>
      <p:pic>
        <p:nvPicPr>
          <p:cNvPr id="4" name="图片 3" descr="1e397ac6e00072d1cbff2a0bbad00d41"/>
          <p:cNvPicPr>
            <a:picLocks noChangeAspect="1"/>
          </p:cNvPicPr>
          <p:nvPr/>
        </p:nvPicPr>
        <p:blipFill>
          <a:blip r:embed="rId2"/>
          <a:stretch>
            <a:fillRect/>
          </a:stretch>
        </p:blipFill>
        <p:spPr>
          <a:xfrm>
            <a:off x="337185" y="2291080"/>
            <a:ext cx="6190615" cy="4566920"/>
          </a:xfrm>
          <a:prstGeom prst="rect">
            <a:avLst/>
          </a:prstGeom>
        </p:spPr>
      </p:pic>
      <p:sp>
        <p:nvSpPr>
          <p:cNvPr id="5" name="TextBox 9"/>
          <p:cNvSpPr txBox="1"/>
          <p:nvPr/>
        </p:nvSpPr>
        <p:spPr>
          <a:xfrm>
            <a:off x="711200" y="1410970"/>
            <a:ext cx="3014980" cy="645160"/>
          </a:xfrm>
          <a:prstGeom prst="rect">
            <a:avLst/>
          </a:prstGeom>
          <a:noFill/>
        </p:spPr>
        <p:txBody>
          <a:bodyPr wrap="square" rtlCol="0">
            <a:spAutoFit/>
          </a:bodyPr>
          <a:lstStyle/>
          <a:p>
            <a:pPr fontAlgn="base">
              <a:lnSpc>
                <a:spcPct val="150000"/>
              </a:lnSpc>
            </a:pPr>
            <a:r>
              <a:rPr lang="zh-CN" altLang="en-US" sz="2400">
                <a:solidFill>
                  <a:schemeClr val="tx1"/>
                </a:solidFill>
                <a:latin typeface="阿里巴巴普惠体"/>
                <a:ea typeface="字魂58号-创中黑"/>
                <a:cs typeface="+mn-ea"/>
                <a:sym typeface="阿里巴巴普惠体"/>
              </a:rPr>
              <a:t>代码与可视化</a:t>
            </a:r>
            <a:r>
              <a:rPr lang="zh-CN" altLang="en-US" sz="2400">
                <a:solidFill>
                  <a:schemeClr val="tx1"/>
                </a:solidFill>
                <a:latin typeface="阿里巴巴普惠体"/>
                <a:ea typeface="字魂58号-创中黑"/>
                <a:cs typeface="+mn-ea"/>
                <a:sym typeface="阿里巴巴普惠体"/>
              </a:rPr>
              <a:t>结果：</a:t>
            </a:r>
            <a:endParaRPr lang="zh-CN" altLang="en-US" sz="2400">
              <a:solidFill>
                <a:schemeClr val="tx1"/>
              </a:solidFill>
              <a:latin typeface="阿里巴巴普惠体"/>
              <a:ea typeface="字魂58号-创中黑"/>
              <a:cs typeface="+mn-ea"/>
              <a:sym typeface="阿里巴巴普惠体"/>
            </a:endParaRPr>
          </a:p>
        </p:txBody>
      </p:sp>
    </p:spTree>
  </p:cSld>
  <p:clrMapOvr>
    <a:masterClrMapping/>
  </p:clrMapOvr>
  <p:transition/>
</p:sld>
</file>

<file path=ppt/tags/tag1.xml><?xml version="1.0" encoding="utf-8"?>
<p:tagLst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KSO_WPP_MARK_KEY" val="0e5f9e42-42cc-460d-9ddc-81bc94931e52"/>
</p:tagLst>
</file>

<file path=ppt/theme/theme1.xml><?xml version="1.0" encoding="utf-8"?>
<a:theme xmlns:a="http://schemas.openxmlformats.org/drawingml/2006/main" name="第一PPT，www.1ppt.com">
  <a:themeElements>
    <a:clrScheme name="灰度">
      <a:dk1>
        <a:srgbClr val="000000"/>
      </a:dk1>
      <a:lt1>
        <a:srgbClr val="FFFFFF"/>
      </a:lt1>
      <a:dk2>
        <a:srgbClr val="768395"/>
      </a:dk2>
      <a:lt2>
        <a:srgbClr val="F0F0F0"/>
      </a:lt2>
      <a:accent1>
        <a:srgbClr val="3E3E3E"/>
      </a:accent1>
      <a:accent2>
        <a:srgbClr val="4D4D4D"/>
      </a:accent2>
      <a:accent3>
        <a:srgbClr val="717171"/>
      </a:accent3>
      <a:accent4>
        <a:srgbClr val="919191"/>
      </a:accent4>
      <a:accent5>
        <a:srgbClr val="A5A5A5"/>
      </a:accent5>
      <a:accent6>
        <a:srgbClr val="D7D7D7"/>
      </a:accent6>
      <a:hlink>
        <a:srgbClr val="3E3E3E"/>
      </a:hlink>
      <a:folHlink>
        <a:srgbClr val="BFBFBF"/>
      </a:folHlink>
    </a:clrScheme>
    <a:fontScheme name="acei4vif">
      <a:majorFont>
        <a:latin typeface="AvantGarde Bk BT"/>
        <a:ea typeface="YouYuan"/>
        <a:cs typeface="Arial"/>
      </a:majorFont>
      <a:minorFont>
        <a:latin typeface="AvantGarde Bk BT"/>
        <a:ea typeface="YouYua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灰度">
      <a:dk1>
        <a:srgbClr val="000000"/>
      </a:dk1>
      <a:lt1>
        <a:srgbClr val="FFFFFF"/>
      </a:lt1>
      <a:dk2>
        <a:srgbClr val="768395"/>
      </a:dk2>
      <a:lt2>
        <a:srgbClr val="F0F0F0"/>
      </a:lt2>
      <a:accent1>
        <a:srgbClr val="3E3E3E"/>
      </a:accent1>
      <a:accent2>
        <a:srgbClr val="4D4D4D"/>
      </a:accent2>
      <a:accent3>
        <a:srgbClr val="717171"/>
      </a:accent3>
      <a:accent4>
        <a:srgbClr val="919191"/>
      </a:accent4>
      <a:accent5>
        <a:srgbClr val="A5A5A5"/>
      </a:accent5>
      <a:accent6>
        <a:srgbClr val="D7D7D7"/>
      </a:accent6>
      <a:hlink>
        <a:srgbClr val="3E3E3E"/>
      </a:hlink>
      <a:folHlink>
        <a:srgbClr val="BFBFBF"/>
      </a:folHlink>
    </a:clrScheme>
    <a:fontScheme name="acei4vif">
      <a:majorFont>
        <a:latin typeface="AvantGarde Bk BT"/>
        <a:ea typeface="YouYuan"/>
        <a:cs typeface="Arial"/>
      </a:majorFont>
      <a:minorFont>
        <a:latin typeface="AvantGarde Bk BT"/>
        <a:ea typeface="YouYua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1607</Words>
  <Application>WPS 演示</Application>
  <PresentationFormat>自定义</PresentationFormat>
  <Paragraphs>45</Paragraphs>
  <Slides>9</Slides>
  <Notes>20</Notes>
  <HiddenSlides>0</HiddenSlides>
  <MMClips>0</MMClips>
  <ScaleCrop>false</ScaleCrop>
  <HeadingPairs>
    <vt:vector size="6" baseType="variant">
      <vt:variant>
        <vt:lpstr>已用的字体</vt:lpstr>
      </vt:variant>
      <vt:variant>
        <vt:i4>25</vt:i4>
      </vt:variant>
      <vt:variant>
        <vt:lpstr>主题</vt:lpstr>
      </vt:variant>
      <vt:variant>
        <vt:i4>3</vt:i4>
      </vt:variant>
      <vt:variant>
        <vt:lpstr>幻灯片标题</vt:lpstr>
      </vt:variant>
      <vt:variant>
        <vt:i4>9</vt:i4>
      </vt:variant>
    </vt:vector>
  </HeadingPairs>
  <TitlesOfParts>
    <vt:vector size="37" baseType="lpstr">
      <vt:lpstr>Arial</vt:lpstr>
      <vt:lpstr>宋体</vt:lpstr>
      <vt:lpstr>Wingdings</vt:lpstr>
      <vt:lpstr>微软雅黑</vt:lpstr>
      <vt:lpstr>Wingdings</vt:lpstr>
      <vt:lpstr>Arial</vt:lpstr>
      <vt:lpstr>AvantGarde Bk BT</vt:lpstr>
      <vt:lpstr>Open Sans Condensed Light</vt:lpstr>
      <vt:lpstr>字魂58号-创中黑</vt:lpstr>
      <vt:lpstr>黑体</vt:lpstr>
      <vt:lpstr>阿里巴巴普惠体</vt:lpstr>
      <vt:lpstr>字魂58号-创中黑</vt:lpstr>
      <vt:lpstr>幼圆</vt:lpstr>
      <vt:lpstr>Arial Unicode MS</vt:lpstr>
      <vt:lpstr>Calibri</vt:lpstr>
      <vt:lpstr>Wingdings</vt:lpstr>
      <vt:lpstr>字魂58号-创中黑</vt:lpstr>
      <vt:lpstr>阿里巴巴普惠体</vt:lpstr>
      <vt:lpstr>KSOF28C6374D</vt:lpstr>
      <vt:lpstr>KSOF5DAC728E</vt:lpstr>
      <vt:lpstr>MS PGothic</vt:lpstr>
      <vt:lpstr>Melanie BT Std Roman</vt:lpstr>
      <vt:lpstr>Saturday Sans Regular</vt:lpstr>
      <vt:lpstr>字魂创中黑</vt:lpstr>
      <vt:lpstr>阿里巴巴和七个小矮人</vt:lpstr>
      <vt:lpstr>第一PPT，www.1ppt.com</vt:lpstr>
      <vt:lpstr>第一PPT，www.1ppt.com     </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极简商务</dc:title>
  <dc:creator>第一PPT</dc:creator>
  <cp:keywords>www.1ppt.com</cp:keywords>
  <dc:description>www.1ppt.com</dc:description>
  <cp:lastModifiedBy>Lucky-S</cp:lastModifiedBy>
  <cp:revision>23</cp:revision>
  <dcterms:created xsi:type="dcterms:W3CDTF">2019-03-26T04:26:00Z</dcterms:created>
  <dcterms:modified xsi:type="dcterms:W3CDTF">2026-06-08T14:43:35Z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D653B2D4BEF9465681F3BC65DFD2F0DF_11</vt:lpwstr>
  </property>
  <property fmtid="{D5CDD505-2E9C-101B-9397-08002B2CF9AE}" pid="3" name="KSOProductBuildVer">
    <vt:lpwstr>2052-12.1.0.26895</vt:lpwstr>
  </property>
  <property fmtid="{D5CDD505-2E9C-101B-9397-08002B2CF9AE}" pid="4" name="KSOTemplateUUID">
    <vt:lpwstr>v1.0_mb_Y0R1UnCSmrbzT+SbqrpIkA==</vt:lpwstr>
  </property>
</Properties>
</file>