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60" r:id="rId4"/>
  </p:sldMasterIdLst>
  <p:notesMasterIdLst>
    <p:notesMasterId r:id="rId13"/>
  </p:notesMasterIdLst>
  <p:sldIdLst>
    <p:sldId id="257" r:id="rId5"/>
    <p:sldId id="266" r:id="rId6"/>
    <p:sldId id="274" r:id="rId7"/>
    <p:sldId id="268" r:id="rId8"/>
    <p:sldId id="273" r:id="rId9"/>
    <p:sldId id="269" r:id="rId10"/>
    <p:sldId id="267" r:id="rId11"/>
    <p:sldId id="27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 flipV="1">
            <a:off x="0" y="994805"/>
            <a:ext cx="7232400" cy="709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矩形 13"/>
          <p:cNvSpPr/>
          <p:nvPr userDrawn="1"/>
        </p:nvSpPr>
        <p:spPr>
          <a:xfrm flipV="1">
            <a:off x="0" y="6285406"/>
            <a:ext cx="12186000" cy="1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TextBox 1"/>
          <p:cNvSpPr txBox="1"/>
          <p:nvPr userDrawn="1"/>
        </p:nvSpPr>
        <p:spPr>
          <a:xfrm>
            <a:off x="8628609" y="6413236"/>
            <a:ext cx="3909754" cy="25648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ctr" defTabSz="0">
              <a:lnSpc>
                <a:spcPts val="1600"/>
              </a:lnSpc>
              <a:tabLst>
                <a:tab pos="1549400" algn="l"/>
              </a:tabLst>
            </a:pPr>
            <a:fld id="{1D8BD707-D9CF-40AE-B4C6-C98DA3205C09}" type="datetimeFigureOut">
              <a:rPr lang="en-US" altLang="zh-CN" sz="1400" smtClean="0">
                <a:solidFill>
                  <a:schemeClr val="bg1">
                    <a:lumMod val="50000"/>
                  </a:schemeClr>
                </a:solidFill>
              </a:rPr>
            </a:fld>
            <a:endParaRPr lang="en-US" altLang="zh-CN" sz="1400" b="1" dirty="0" smtClean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17855" y="205105"/>
            <a:ext cx="6309360" cy="861060"/>
          </a:xfrm>
        </p:spPr>
        <p:txBody>
          <a:bodyPr/>
          <a:lstStyle>
            <a:lvl1pPr>
              <a:defRPr sz="4000" b="0">
                <a:latin typeface="华文行楷" panose="02010800040101010101" charset="-122"/>
                <a:ea typeface="华文行楷" panose="02010800040101010101" charset="-122"/>
              </a:defRPr>
            </a:lvl1pPr>
          </a:lstStyle>
          <a:p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？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7220" y="1359535"/>
            <a:ext cx="10515600" cy="4584065"/>
          </a:xfrm>
        </p:spPr>
        <p:txBody>
          <a:bodyPr>
            <a:normAutofit fontScale="90000" lnSpcReduction="20000"/>
          </a:bodyPr>
          <a:p>
            <a:pPr marL="87630" indent="0" algn="just">
              <a:lnSpc>
                <a:spcPct val="110000"/>
              </a:lnSpc>
              <a:buClr>
                <a:srgbClr val="00B0F0"/>
              </a:buClr>
              <a:buNone/>
            </a:pPr>
            <a:r>
              <a: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endParaRPr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1"/>
          <p:cNvSpPr txBox="1"/>
          <p:nvPr userDrawn="1"/>
        </p:nvSpPr>
        <p:spPr>
          <a:xfrm>
            <a:off x="-132080" y="6419215"/>
            <a:ext cx="8289290" cy="25082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p>
            <a:pPr algn="ctr" defTabSz="0">
              <a:lnSpc>
                <a:spcPts val="1600"/>
              </a:lnSpc>
              <a:tabLst>
                <a:tab pos="1549400" algn="l"/>
              </a:tabLst>
            </a:pPr>
            <a:r>
              <a:rPr lang="zh-CN" sz="1400" b="1" dirty="0" smtClean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数据挖掘作业                                    </a:t>
            </a:r>
            <a:r>
              <a:rPr lang="zh-CN" sz="1400" dirty="0" smtClean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宋子旻     信管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2302</a:t>
            </a:r>
            <a:endParaRPr lang="en-US" altLang="zh-CN" sz="1400" dirty="0" smtClean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 flipV="1">
            <a:off x="0" y="994805"/>
            <a:ext cx="7232400" cy="709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矩形 13"/>
          <p:cNvSpPr/>
          <p:nvPr userDrawn="1"/>
        </p:nvSpPr>
        <p:spPr>
          <a:xfrm flipV="1">
            <a:off x="0" y="6285406"/>
            <a:ext cx="12186000" cy="1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TextBox 1"/>
          <p:cNvSpPr txBox="1"/>
          <p:nvPr userDrawn="1"/>
        </p:nvSpPr>
        <p:spPr>
          <a:xfrm>
            <a:off x="8628609" y="6413236"/>
            <a:ext cx="3909754" cy="25648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ctr" defTabSz="0">
              <a:lnSpc>
                <a:spcPts val="1600"/>
              </a:lnSpc>
              <a:tabLst>
                <a:tab pos="1549400" algn="l"/>
              </a:tabLst>
            </a:pPr>
            <a:fld id="{1D8BD707-D9CF-40AE-B4C6-C98DA3205C09}" type="datetimeFigureOut">
              <a:rPr lang="en-US" altLang="zh-CN" sz="1400" smtClean="0">
                <a:solidFill>
                  <a:schemeClr val="bg1">
                    <a:lumMod val="50000"/>
                  </a:schemeClr>
                </a:solidFill>
              </a:rPr>
            </a:fld>
            <a:endParaRPr lang="en-US" altLang="zh-CN" sz="1400" b="1" dirty="0" smtClean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17855" y="205105"/>
            <a:ext cx="6309360" cy="861060"/>
          </a:xfrm>
        </p:spPr>
        <p:txBody>
          <a:bodyPr/>
          <a:lstStyle>
            <a:lvl1pPr>
              <a:defRPr sz="4000" b="0">
                <a:latin typeface="华文行楷" panose="02010800040101010101" charset="-122"/>
                <a:ea typeface="华文行楷" panose="02010800040101010101" charset="-122"/>
              </a:defRPr>
            </a:lvl1pPr>
          </a:lstStyle>
          <a:p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？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7220" y="1359535"/>
            <a:ext cx="10515600" cy="4584065"/>
          </a:xfrm>
        </p:spPr>
        <p:txBody>
          <a:bodyPr>
            <a:normAutofit fontScale="90000" lnSpcReduction="20000"/>
          </a:bodyPr>
          <a:p>
            <a:pPr marL="87630" indent="0" algn="just">
              <a:lnSpc>
                <a:spcPct val="110000"/>
              </a:lnSpc>
              <a:buClr>
                <a:srgbClr val="00B0F0"/>
              </a:buClr>
              <a:buNone/>
            </a:pPr>
            <a:r>
              <a: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endParaRPr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1"/>
          <p:cNvSpPr txBox="1"/>
          <p:nvPr userDrawn="1"/>
        </p:nvSpPr>
        <p:spPr>
          <a:xfrm>
            <a:off x="-132080" y="6419215"/>
            <a:ext cx="8289290" cy="25082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p>
            <a:pPr algn="ctr" defTabSz="0">
              <a:lnSpc>
                <a:spcPts val="1600"/>
              </a:lnSpc>
              <a:tabLst>
                <a:tab pos="1549400" algn="l"/>
              </a:tabLst>
            </a:pPr>
            <a:r>
              <a:rPr lang="zh-CN" sz="1400" b="1" dirty="0" smtClean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数据挖掘作业                                    </a:t>
            </a:r>
            <a:r>
              <a:rPr lang="zh-CN" sz="1400" dirty="0" smtClean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宋子旻     信管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2302</a:t>
            </a:r>
            <a:endParaRPr lang="en-US" altLang="zh-CN" sz="1400" dirty="0" smtClean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4" Type="http://schemas.openxmlformats.org/officeDocument/2006/relationships/theme" Target="../theme/theme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数据挖掘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3699510"/>
            <a:ext cx="12192000" cy="3246120"/>
          </a:xfrm>
        </p:spPr>
        <p:txBody>
          <a:bodyPr>
            <a:normAutofit/>
          </a:bodyPr>
          <a:p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第二章作业</a:t>
            </a:r>
            <a:endParaRPr lang="zh-CN" altLang="en-US" sz="32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sz="1800"/>
              <a:t>宋子旻   信管</a:t>
            </a:r>
            <a:r>
              <a:rPr lang="en-US" altLang="zh-CN" sz="1800"/>
              <a:t>2302   202321054046</a:t>
            </a:r>
            <a:endParaRPr lang="en-US" altLang="zh-CN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课堂</a:t>
            </a:r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笔记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pic>
        <p:nvPicPr>
          <p:cNvPr id="5" name="图片 4" descr="e839193904a5dfb13386d1f7037101da"/>
          <p:cNvPicPr>
            <a:picLocks noChangeAspect="1"/>
          </p:cNvPicPr>
          <p:nvPr/>
        </p:nvPicPr>
        <p:blipFill>
          <a:blip r:embed="rId1"/>
          <a:srcRect t="5546" b="14704"/>
          <a:stretch>
            <a:fillRect/>
          </a:stretch>
        </p:blipFill>
        <p:spPr>
          <a:xfrm>
            <a:off x="1418590" y="1152525"/>
            <a:ext cx="4708525" cy="5099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数据回归基本方法步骤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2735" y="1504950"/>
            <a:ext cx="11606530" cy="458406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收集一组包含因变量和自变量的数据；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选定因变量和自变量之间的模型，即一个数学式子，利用数据按照一定比例（如最小二乘）计算模型中的系数；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利用统计分析方法对不同的模型进行比较，找出效果最好的模型；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判断得到的模型是否适用于这组数据；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利用模型对因变量做出预测或解释；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根据回归方法中因变量个数和回归模型的类型（线性或非线性）可将回归方法分为：一元线性、一元非线性、多元线性、多元非线性等。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一元和多元线性回归基础模型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zh-CN" altLang="en-US"/>
              <a:t>一元线性回归：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定义：针对单个自变量与连续因变量，构建线性关系的回归模型，是线性回归的基础形式。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基本数学模型：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核心：通过最小二乘法求解参数，拟合自变量与因变量的直线型关联，预测连续数值。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graphicFrame>
        <p:nvGraphicFramePr>
          <p:cNvPr id="4" name="Object 1"/>
          <p:cNvGraphicFramePr>
            <a:graphicFrameLocks noChangeAspect="1"/>
          </p:cNvGraphicFramePr>
          <p:nvPr/>
        </p:nvGraphicFramePr>
        <p:xfrm>
          <a:off x="2864485" y="2453640"/>
          <a:ext cx="2937510" cy="659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" name="Equation" r:id="rId1" imgW="1018540" imgH="229235" progId="Equation.DSMT4">
                  <p:embed/>
                </p:oleObj>
              </mc:Choice>
              <mc:Fallback>
                <p:oleObj name="Equation" r:id="rId1" imgW="1018540" imgH="229235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4485" y="2453640"/>
                        <a:ext cx="2937510" cy="6591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一元和多元线性回归基础模型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zh-CN" altLang="en-US"/>
              <a:t>多元线性回归：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定义：基于多个自变量拟合连续因变量的线性回归模型，是一元线性回归的拓展。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基本数学模型：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核心：沿用最小二乘法，刻画多自变量对因变量的联合线性影响，适用于多因素连续值预测。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0050" y="2557780"/>
            <a:ext cx="586994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Logistic回归的基本数学模型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220" y="1359535"/>
            <a:ext cx="11247120" cy="458406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1800"/>
              <a:t>1. 核心定义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名为回归，实为线性分类模型（主流二分类），在线性回归基础上叠加映射函数，实现概率型分类预测。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2. 基本数学模型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	线性得分计算（同线性回归核心逻辑）</a:t>
            </a:r>
            <a:endParaRPr lang="en-US" altLang="zh-CN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	Sigmoid映射（概率压缩）</a:t>
            </a:r>
            <a:endParaRPr lang="en-US" altLang="zh-CN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3. 核心含义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通过线性组合计算特征得分，再映射为样本属于正类的概率（0-1区间），以0.5为阈值划分类别，本质是对对数几率做线性拟合。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4. 核心特点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模型简单易训练、可解释性极强，输出分类概率而非单纯类别；决策边界为线性，对异常值鲁棒性好，兼顾稳定性与实用性，是工业界经典基线分类模型。</a:t>
            </a:r>
            <a:endParaRPr lang="en-US" altLang="zh-CN" sz="1800"/>
          </a:p>
          <a:p>
            <a:pPr marL="0" indent="0">
              <a:buNone/>
            </a:pPr>
            <a:endParaRPr lang="en-US" altLang="zh-CN" sz="180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6660" y="2659380"/>
            <a:ext cx="6984365" cy="7696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区别与联系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855" y="1359535"/>
            <a:ext cx="10515600" cy="4584065"/>
          </a:xfrm>
        </p:spPr>
        <p:txBody>
          <a:bodyPr/>
          <a:p>
            <a:pPr marL="0" indent="0">
              <a:buNone/>
            </a:pPr>
            <a:r>
              <a:rPr lang="en-US" altLang="zh-CN" sz="2400"/>
              <a:t>Logistic</a:t>
            </a:r>
            <a:r>
              <a:rPr lang="zh-CN" altLang="en-US" sz="2400"/>
              <a:t>回归和线性回归的区别和联系</a:t>
            </a: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线性回归是用于找到自变量与因变量之间的关系的回归模型，常用于分析与预测；而</a:t>
            </a:r>
            <a:r>
              <a:rPr lang="en-US" altLang="zh-CN" sz="2400"/>
              <a:t>Logistic</a:t>
            </a:r>
            <a:r>
              <a:rPr lang="zh-CN" altLang="en-US" sz="2400"/>
              <a:t>回归则在其基础上，通过</a:t>
            </a:r>
            <a:r>
              <a:rPr lang="en-US" altLang="zh-CN" sz="2400"/>
              <a:t>Sigmoid</a:t>
            </a:r>
            <a:r>
              <a:rPr lang="zh-CN" altLang="en-US" sz="2400"/>
              <a:t>函数将结果对应改为</a:t>
            </a:r>
            <a:r>
              <a:rPr lang="en-US" altLang="zh-CN" sz="2400"/>
              <a:t>0</a:t>
            </a:r>
            <a:r>
              <a:rPr lang="zh-CN" altLang="en-US" sz="2400"/>
              <a:t>或</a:t>
            </a:r>
            <a:r>
              <a:rPr lang="en-US" altLang="zh-CN" sz="2400"/>
              <a:t>1</a:t>
            </a:r>
            <a:r>
              <a:rPr lang="zh-CN" altLang="en-US" sz="2400"/>
              <a:t>，用于处理二分类问题。</a:t>
            </a:r>
            <a:endParaRPr lang="zh-CN" altLang="en-US" sz="2400"/>
          </a:p>
          <a:p>
            <a:pPr marL="0" indent="0">
              <a:buNone/>
            </a:pPr>
            <a:endParaRPr lang="zh-CN" altLang="en-US" sz="2400"/>
          </a:p>
          <a:p>
            <a:pPr marL="0" indent="0">
              <a:buNone/>
            </a:pPr>
            <a:r>
              <a:rPr lang="zh-CN" altLang="en-US" sz="2400"/>
              <a:t>二者都使用单个或多个自变量与因变量进行关系的比较，来寻找关系程度与预测结果，线性回归结果是实数集，用于直接表示关系程度；而</a:t>
            </a:r>
            <a:r>
              <a:rPr lang="en-US" altLang="zh-CN" sz="2400"/>
              <a:t>Logistic</a:t>
            </a:r>
            <a:r>
              <a:rPr lang="zh-CN" altLang="en-US" sz="2400"/>
              <a:t>回归则落在</a:t>
            </a:r>
            <a:r>
              <a:rPr lang="en-US" altLang="zh-CN" sz="2400"/>
              <a:t>0</a:t>
            </a:r>
            <a:r>
              <a:rPr lang="zh-CN" altLang="en-US" sz="2400"/>
              <a:t>与</a:t>
            </a:r>
            <a:r>
              <a:rPr lang="en-US" altLang="zh-CN" sz="2400"/>
              <a:t>1</a:t>
            </a:r>
            <a:r>
              <a:rPr lang="zh-CN" altLang="en-US" sz="2400"/>
              <a:t>上，用以直接判断最终决策或结果。</a:t>
            </a:r>
            <a:endParaRPr lang="zh-C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7855" y="205105"/>
            <a:ext cx="7254240" cy="861060"/>
          </a:xfrm>
        </p:spPr>
        <p:txBody>
          <a:bodyPr>
            <a:normAutofit fontScale="90000"/>
          </a:bodyPr>
          <a:p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《白话机器学习算法》第六章读书笔记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220" y="1359535"/>
            <a:ext cx="10515600" cy="4815205"/>
          </a:xfrm>
        </p:spPr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r>
              <a:rPr lang="en-US" altLang="zh-CN" sz="2000">
                <a:cs typeface="宋体" panose="02010600030101010101" pitchFamily="2" charset="-122"/>
              </a:rPr>
              <a:t>第六章聚焦回归分析这一经典的监督学习算法，以数据科学研究的4大主要步骤为轴心，讲解回归分析在各环节的具体适配方法、核心操作与专属指标，明晰了这一算法实现连续值预测的完整逻辑与实操要点。</a:t>
            </a:r>
            <a:endParaRPr lang="en-US" altLang="zh-CN" sz="2000"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>
                <a:cs typeface="宋体" panose="02010600030101010101" pitchFamily="2" charset="-122"/>
              </a:rPr>
              <a:t>准备数据，回归分析需做好变量的筛选、标准化处理，提前排查异常值、规避多重共线性问题，是数据准备、数据探索阶段的针对性适配操作；选择算法建立模型，明确回归分析的任务目标为拟合最佳拟合线，通过多预测变量加权组合构建模型，并结合房价预测实例阐释核心原理，包含了模型的建立这一阶段；参数调优，借助梯度下降法及随机梯度下降法优化回归系数这一核心参数，找到整体预测误差最小的权重组合，属于模型评估阶段；评价模型，以相关系数、均方根误差等为核心指标衡量模型拟合效果，验证趋势线的预测准确性，也属于模型评估阶段。</a:t>
            </a:r>
            <a:endParaRPr lang="en-US" altLang="zh-CN" sz="2000"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>
                <a:cs typeface="宋体" panose="02010600030101010101" pitchFamily="2" charset="-122"/>
              </a:rPr>
              <a:t>总体而言，第六章针对回归分析这一基础预测算法，就数据挖掘的六阶段而言，淡化了场景化的目标挖掘与落地部署环节，而着重于其在数据处理、模型构建与评估中的核心应用，讲解线性预测的底层逻辑，为往后复杂预测算法的学习筑牢基础。</a:t>
            </a:r>
            <a:endParaRPr lang="en-US" altLang="zh-CN" sz="2000"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</Words>
  <Application>WPS 演示</Application>
  <PresentationFormat>宽屏</PresentationFormat>
  <Paragraphs>69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华文行楷</vt:lpstr>
      <vt:lpstr>微软雅黑</vt:lpstr>
      <vt:lpstr>Wingdings</vt:lpstr>
      <vt:lpstr>Arial Unicode MS</vt:lpstr>
      <vt:lpstr>Calibri</vt:lpstr>
      <vt:lpstr>黑体</vt:lpstr>
      <vt:lpstr>Office 主题</vt:lpstr>
      <vt:lpstr>自定义设计方案</vt:lpstr>
      <vt:lpstr>1_Office 主题</vt:lpstr>
      <vt:lpstr>Equation.DSMT4</vt:lpstr>
      <vt:lpstr>数据挖掘</vt:lpstr>
      <vt:lpstr>数据回归基本方法步骤</vt:lpstr>
      <vt:lpstr>数据回归基本方法步骤</vt:lpstr>
      <vt:lpstr>一元和多元线性回归基础模型</vt:lpstr>
      <vt:lpstr>一元和多元线性回归基础模型</vt:lpstr>
      <vt:lpstr>Logistic回归的基本数学模型</vt:lpstr>
      <vt:lpstr>区别与联系</vt:lpstr>
      <vt:lpstr>《白话机器学习算法》第六章读书笔记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宋子旻</dc:creator>
  <cp:lastModifiedBy>Lucky-S</cp:lastModifiedBy>
  <cp:revision>13</cp:revision>
  <dcterms:created xsi:type="dcterms:W3CDTF">2026-03-15T17:00:00Z</dcterms:created>
  <dcterms:modified xsi:type="dcterms:W3CDTF">2026-06-08T15:38:25Z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3FED68D2D3DF4C1CA1B73877C49791E9_12</vt:lpwstr>
  </property>
</Properties>
</file>